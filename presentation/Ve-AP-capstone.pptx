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18b5bd9-abb6-50c0-a7fa-eeb5def8060d}">
          <p14:sldIdLst>
            <p14:sldId id="256"/>
          </p14:sldIdLst>
        </p14:section>
        <p14:section name="Problem and idea" id="{71e41a12-f881-e177-fe41-bd5fd608b68d}">
          <p14:sldIdLst>
            <p14:sldId id="257"/>
            <p14:sldId id="258"/>
          </p14:sldIdLst>
        </p14:section>
        <p14:section name="Architecture" id="{7c93bf37-299a-0b72-4621-fcb0fcda4af4}">
          <p14:sldIdLst>
            <p14:sldId id="259"/>
            <p14:sldId id="260"/>
            <p14:sldId id="261"/>
          </p14:sldIdLst>
        </p14:section>
        <p14:section name="MHS" id="{ef5253c4-9b2f-9c83-ff1f-d5a0ded85201}">
          <p14:sldIdLst>
            <p14:sldId id="262"/>
            <p14:sldId id="263"/>
          </p14:sldIdLst>
        </p14:section>
        <p14:section name="Innovations" id="{5c41bd97-c1c0-0123-aa1f-b373d66111dc}">
          <p14:sldIdLst>
            <p14:sldId id="264"/>
            <p14:sldId id="265"/>
            <p14:sldId id="266"/>
            <p14:sldId id="267"/>
          </p14:sldIdLst>
        </p14:section>
        <p14:section name="Flows" id="{bdb88099-4475-4a95-651e-4936b2c9849c}">
          <p14:sldIdLst>
            <p14:sldId id="268"/>
            <p14:sldId id="269"/>
            <p14:sldId id="270"/>
          </p14:sldIdLst>
        </p14:section>
        <p14:section name="Evidence" id="{14ffe4d6-fb29-ba0a-ad6d-8b1a2264c0ce}">
          <p14:sldIdLst>
            <p14:sldId id="271"/>
            <p14:sldId id="272"/>
          </p14:sldIdLst>
        </p14:section>
        <p14:section name="In the car" id="{35437293-56c0-36ca-0492-4968a3848e56}">
          <p14:sldIdLst>
            <p14:sldId id="273"/>
            <p14:sldId id="274"/>
          </p14:sldIdLst>
        </p14:section>
        <p14:section name="How it was built" id="{841c1013-d4fd-d415-8fc5-332242352a2a}">
          <p14:sldIdLst>
            <p14:sldId id="275"/>
          </p14:sldIdLst>
        </p14:section>
        <p14:section name="Close" id="{d4e24582-1ec2-7150-999d-315d092456ab}">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mn-lt"/>
              </a:defRPr>
            </a:pPr>
            <a:r>
              <a:rPr sz="1400" b="0" i="0" u="none" strike="noStrike">
                <a:solidFill>
                  <a:srgbClr val="0E1A2B"/>
                </a:solidFill>
                <a:latin typeface="+mn-lt"/>
              </a:rPr>
              <a:t>How far each of the 17 is built</a:t>
            </a:r>
          </a:p>
        </c:rich>
      </c:tx>
      <c:layout/>
      <c:overlay val="0"/>
    </c:title>
    <c:autoTitleDeleted val="0"/>
    <c:plotArea>
      <c:layout/>
      <c:barChart>
        <c:barDir val="bar"/>
        <c:grouping val="clustered"/>
        <c:varyColors val="0"/>
        <c:ser>
          <c:idx val="0"/>
          <c:order val="0"/>
          <c:tx>
            <c:strRef>
              <c:f>Sheet1!$B$1</c:f>
              <c:strCache>
                <c:ptCount val="1"/>
                <c:pt idx="0">
                  <c:v>Inventions</c:v>
                </c:pt>
              </c:strCache>
            </c:strRef>
          </c:tx>
          <c:spPr>
            <a:solidFill>
              <a:srgbClr val="12827A"/>
            </a:solidFill>
            <a:effectLst/>
          </c:spPr>
          <c:invertIfNegative val="0"/>
          <c:dLbls>
            <c:numFmt formatCode="#,##0" sourceLinked="0"/>
            <c:txPr>
              <a:bodyPr/>
              <a:lstStyle/>
              <a:p>
                <a:pPr>
                  <a:defRPr b="0" i="0" strike="noStrike" sz="14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Built</c:v>
                  </c:pt>
                  <c:pt idx="1">
                    <c:v>Partial</c:v>
                  </c:pt>
                  <c:pt idx="2">
                    <c:v>Proof of concept</c:v>
                  </c:pt>
                  <c:pt idx="3">
                    <c:v>Design only</c:v>
                  </c:pt>
                </c:lvl>
              </c:multiLvlStrCache>
            </c:multiLvlStrRef>
          </c:cat>
          <c:val>
            <c:numRef>
              <c:f>Sheet1!$B$2:$B$5</c:f>
              <c:numCache>
                <c:formatCode>General</c:formatCode>
                <c:ptCount val="4"/>
                <c:pt idx="0">
                  <c:v>1</c:v>
                </c:pt>
                <c:pt idx="1">
                  <c:v>9</c:v>
                </c:pt>
                <c:pt idx="2">
                  <c:v>1</c:v>
                </c:pt>
                <c:pt idx="3">
                  <c:v>6</c:v>
                </c:pt>
              </c:numCache>
            </c:numRef>
          </c:val>
        </c:ser>
        <c:dLbls>
          <c:numFmt formatCode="#,##0" sourceLinked="0"/>
          <c:txPr>
            <a:bodyPr/>
            <a:lstStyle/>
            <a:p>
              <a:pPr>
                <a:defRPr b="0" i="0" strike="noStrike" sz="14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A2B"/>
                </a:solidFill>
                <a:latin typeface="+mn-lt"/>
              </a:defRPr>
            </a:pPr>
            <a:r>
              <a:rPr sz="1300" b="0" i="0" u="none" strike="noStrike">
                <a:solidFill>
                  <a:srgbClr val="0E1A2B"/>
                </a:solidFill>
                <a:latin typeface="+mn-lt"/>
              </a:rPr>
              <a:t>Tests passed per suite (suites overlap, so they are not summed)</a:t>
            </a:r>
          </a:p>
        </c:rich>
      </c:tx>
      <c:layout/>
      <c:overlay val="0"/>
    </c:title>
    <c:autoTitleDeleted val="0"/>
    <c:plotArea>
      <c:layout/>
      <c:barChart>
        <c:barDir val="col"/>
        <c:grouping val="clustered"/>
        <c:varyColors val="0"/>
        <c:ser>
          <c:idx val="0"/>
          <c:order val="0"/>
          <c:tx>
            <c:strRef>
              <c:f>Sheet1!$B$1</c:f>
              <c:strCache>
                <c:ptCount val="1"/>
                <c:pt idx="0">
                  <c:v>Tests passed</c:v>
                </c:pt>
              </c:strCache>
            </c:strRef>
          </c:tx>
          <c:spPr>
            <a:solidFill>
              <a:srgbClr val="12827A"/>
            </a:solidFill>
            <a:effectLst/>
          </c:spPr>
          <c:invertIfNegative val="0"/>
          <c:dLbls>
            <c:numFmt formatCode="#,##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Sheet1!$A$2:$A$9</c:f>
              <c:multiLvlStrCache>
                <c:ptCount val="8"/>
                <c:lvl>
                  <c:pt idx="0">
                    <c:v>T1 pure logic</c:v>
                  </c:pt>
                  <c:pt idx="1">
                    <c:v>MHS</c:v>
                  </c:pt>
                  <c:pt idx="2">
                    <c:v>Voice</c:v>
                  </c:pt>
                  <c:pt idx="3">
                    <c:v>Cabin display</c:v>
                  </c:pt>
                  <c:pt idx="4">
                    <c:v>T4 agent</c:v>
                  </c:pt>
                  <c:pt idx="5">
                    <c:v>Vision</c:v>
                  </c:pt>
                  <c:pt idx="6">
                    <c:v>SOVD server</c:v>
                  </c:pt>
                  <c:pt idx="7">
                    <c:v>Console</c:v>
                  </c:pt>
                </c:lvl>
              </c:multiLvlStrCache>
            </c:multiLvlStrRef>
          </c:cat>
          <c:val>
            <c:numRef>
              <c:f>Sheet1!$B$2:$B$9</c:f>
              <c:numCache>
                <c:formatCode>General</c:formatCode>
                <c:ptCount val="8"/>
                <c:pt idx="0">
                  <c:v>983</c:v>
                </c:pt>
                <c:pt idx="1">
                  <c:v>481</c:v>
                </c:pt>
                <c:pt idx="2">
                  <c:v>335</c:v>
                </c:pt>
                <c:pt idx="3">
                  <c:v>278</c:v>
                </c:pt>
                <c:pt idx="4">
                  <c:v>146</c:v>
                </c:pt>
                <c:pt idx="5">
                  <c:v>121</c:v>
                </c:pt>
                <c:pt idx="6">
                  <c:v>104</c:v>
                </c:pt>
                <c:pt idx="7">
                  <c:v>42</c:v>
                </c:pt>
              </c:numCache>
            </c:numRef>
          </c:val>
        </c:ser>
        <c:dLbls>
          <c:numFmt formatCode="#,##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Ve-AP is an AI agent that answers questions about a car while it is driven. It runs on two small boards in the car, with no cloud. Its point is not the answers: it is that every call to the vehicle passes a gate that can refuse, and every refusal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architectures show where an agent sits. They do not say what it may do, how we know its refusals work, or how it reaches hardware without speaking protocols. The author's earlier evaluation had a failure ceiling that fired zero times in nineteen runs: the zero meant 'never tested', not 'never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every action passes one predicate of eight conditions. Each can refuse on its own and names itself. The first one to refuse names the decision, and the decision is journalled before anything reaches a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layers. Models and agents live above L4, protocols below it. Nothing crosses except bounded semantic operations: never a CAN ID or a diagnostic service number. These are invariants with tests, and a hook stops the coding agent from breaking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has no route to the vehicle except through the gate. Below the gate is MHS, the hardware layer. Driver monitoring and the road view feed the cabin display with derived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Jetson runs the agent and perception; the Pi runs the hardware layer, the diagnostic server and the cabin display. They talk over a direct Ethernet cable. The workstation model is optional, and it was not in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MHS is the hardware layer. Every hardware fact is data in a registry that is checked when it compiles. MHS separates what, how, where and whether, so the agent never names a pin, a CAN ID or a diagnostic service. A new sensor is a registry entry, not new agent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locks. The gate mints an admission for one exact request; MHS verifies it and cannot mint one. The device interlock can still refuse an admitted write. And every face, from MCP to the cabin display, is a consumer of one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safety alerts are rules with no model, so a model failure can never silence a warning. And the dangerous capabilities are not missing features: they are named, and refused by name, which makes the refusal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redacted afterwards because the sensitive data never leaves its box. The driver monitor emits numbers, and the screen draws the face as lines. The road picture is blurred on the Jetson, and if blurring is unavailable no picture is sent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ideas a reviewer can check. Each card carries its evidence: a test count, an eval, or the fact that it was shown in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argues for seventeen inventions. This build proves one fully, nine partly, one in a proof of concept, and six remain design. Saying so is part of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push-to-talk question. Audio is captured only while Talk is held. The fast route picks the readings, every reading passes the gate, and the answer comes back with its evidence, spoken through the car's own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Refusals are first-class. A C3 request is refused by name, before any model runs. A stale reading is refused rather than shown as current. Both are journal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the last resort. Most questions need one reading, which a small classifier picks in about 130 milliseconds and a template answers. That took the median answer from almost twenty seconds to under one, and every answer still works when the big model is unreachable.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behaviour starts as a test that fails for the stated reason. Then reachability proves each conjunct can deny, mutation gates prove each rule is really tested, and traceability links every requirement to its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offline check-all passed every one of its eighteen sections on the nineteenth of October. Every conjunct denied, the journal chain was intact over 1,950 decisions, and the invariants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nineteenth of October the rig went into a car. Cameras, microphone, speech and the car's own speakers were real. The vehicle signals came from a simulator, and the screen says so. Reading the car's own bus is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view held about ten frames a second for forty-two minutes with blurring on. On the long drive it refused to calibrate a crooked camera and told us to straighten it; once straightened, it found the mount in seventy-four seconds. The lens was never calibrated, and the roads had no lane markings, so lane confidence stayed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coding agent worked inside gates it could not edit around. Memory lived in files: status, plan, learnings. Every incident opened an intent. The human chose, approved, wired, drove and pushed; the agent wrote tests first and reported failures with their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Overclaiming is worth less than not claiming. These are the limits, and the next steps that close them, starting with connecting to the car's own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in this talk, including the film and every diagram, is in the public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3093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03320"/>
            <a:ext cx="630936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4572000" cy="274320"/>
          </a:xfrm>
          <a:prstGeom prst="rect">
            <a:avLst/>
          </a:prstGeom>
          <a:noFill/>
          <a:ln/>
        </p:spPr>
        <p:txBody>
          <a:bodyPr wrap="square" rtlCol="0" anchor="ctr"/>
          <a:lstStyle/>
          <a:p>
            <a:pPr indent="0" marL="0">
              <a:buNone/>
            </a:pPr>
            <a:r>
              <a:rPr lang="en-US" sz="1000" dirty="0">
                <a:solidFill>
                  <a:schemeClr val="accent5"/>
                </a:solidFill>
              </a:rPr>
              <a:t>Ve-AP · capstone 2026</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19088"/>
            <a:ext cx="4572000" cy="274320"/>
          </a:xfrm>
          <a:prstGeom prst="rect">
            <a:avLst/>
          </a:prstGeom>
          <a:noFill/>
          <a:ln/>
        </p:spPr>
        <p:txBody>
          <a:bodyPr wrap="square" rtlCol="0" anchor="ctr"/>
          <a:lstStyle/>
          <a:p>
            <a:pPr indent="0" marL="0">
              <a:buNone/>
            </a:pPr>
            <a:r>
              <a:rPr lang="en-US" sz="1000" dirty="0">
                <a:solidFill>
                  <a:schemeClr val="bg2"/>
                </a:solidFill>
              </a:rPr>
              <a:t>Ve-AP · capstone 2026</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309360" cy="1737360"/>
          </a:xfrm>
          <a:prstGeom prst="rect">
            <a:avLst/>
          </a:prstGeom>
          <a:noFill/>
          <a:ln/>
        </p:spPr>
        <p:txBody>
          <a:bodyPr wrap="square" rtlCol="0" anchor="b"/>
          <a:lstStyle/>
          <a:p>
            <a:pPr algn="l" indent="0" marL="0">
              <a:buNone/>
            </a:pPr>
            <a:r>
              <a:rPr lang="en-US" sz="4000" b="1" dirty="0">
                <a:solidFill>
                  <a:schemeClr val="bg1"/>
                </a:solidFill>
              </a:rPr>
              <a:t>Ve-AP: a governed AI agent in a real car</a:t>
            </a:r>
            <a:endParaRPr lang="en-US" sz="4000" dirty="0"/>
          </a:p>
        </p:txBody>
      </p:sp>
      <p:sp>
        <p:nvSpPr>
          <p:cNvPr id="3" name="Text 0"/>
          <p:cNvSpPr/>
          <p:nvPr>
            <p:ph idx="101" type="body" hasCustomPrompt="1"/>
          </p:nvPr>
        </p:nvSpPr>
        <p:spPr>
          <a:xfrm>
            <a:off x="548640" y="3703320"/>
            <a:ext cx="6309360" cy="1463040"/>
          </a:xfrm>
          <a:prstGeom prst="rect">
            <a:avLst/>
          </a:prstGeom>
          <a:noFill/>
          <a:ln/>
        </p:spPr>
        <p:txBody>
          <a:bodyPr wrap="square" rtlCol="0" anchor="t"/>
          <a:lstStyle/>
          <a:p>
            <a:pPr algn="l" indent="0" marL="0">
              <a:buNone/>
            </a:pPr>
            <a:r>
              <a:rPr lang="en-US" sz="1800" dirty="0">
                <a:solidFill>
                  <a:schemeClr val="bg2"/>
                </a:solidFill>
              </a:rPr>
              <a:t>Bounded authority and measured refusal for in-vehicle agents</a:t>
            </a:r>
            <a:endParaRPr lang="en-US" sz="1800" dirty="0"/>
          </a:p>
          <a:p>
            <a:pPr algn="l" indent="0" marL="0">
              <a:buNone/>
            </a:pPr>
            <a:r>
              <a:rPr lang="en-US" sz="1000" dirty="0">
                <a:solidFill>
                  <a:schemeClr val="bg2"/>
                </a:solidFill>
              </a:rPr>
              <a:t> </a:t>
            </a:r>
            <a:endParaRPr lang="en-US" sz="1800" dirty="0"/>
          </a:p>
          <a:p>
            <a:pPr algn="l" indent="0" marL="0">
              <a:buNone/>
            </a:pPr>
            <a:r>
              <a:rPr lang="en-US" sz="1400" dirty="0">
                <a:solidFill>
                  <a:schemeClr val="bg2"/>
                </a:solidFill>
              </a:rPr>
              <a:t>Capstone project 2026 · Yuvaraja</a:t>
            </a:r>
            <a:endParaRPr lang="en-US" sz="1800" dirty="0"/>
          </a:p>
        </p:txBody>
      </p:sp>
      <p:pic>
        <p:nvPicPr>
          <p:cNvPr id="4" name="photo of the cabin display in the car" descr="photo of the cabin display in the car">    </p:cNvPr>
          <p:cNvPicPr>
            <a:picLocks noChangeAspect="1"/>
          </p:cNvPicPr>
          <p:nvPr/>
        </p:nvPicPr>
        <p:blipFill>
          <a:blip r:embed="rId1"/>
          <a:stretch>
            <a:fillRect/>
          </a:stretch>
        </p:blipFill>
        <p:spPr>
          <a:xfrm>
            <a:off x="7223760" y="1861661"/>
            <a:ext cx="4434840" cy="2494598"/>
          </a:xfrm>
          <a:prstGeom prst="rect">
            <a:avLst/>
          </a:prstGeom>
        </p:spPr>
      </p:pic>
      <p:sp>
        <p:nvSpPr>
          <p:cNvPr id="5" name="context chip"/>
          <p:cNvSpPr txBox="1"/>
          <p:nvPr/>
        </p:nvSpPr>
        <p:spPr>
          <a:xfrm>
            <a:off x="7223760" y="4983480"/>
            <a:ext cx="44348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2"/>
                </a:solidFill>
              </a:rPr>
              <a:t>No cloud · Jetson + Raspberry Pi 5 · tested in a car, 19 Oct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Agents are arriving in cars. Three questions stay open</a:t>
            </a:r>
            <a:endParaRPr lang="en-US" sz="3200" dirty="0"/>
          </a:p>
        </p:txBody>
      </p:sp>
      <p:sp>
        <p:nvSpPr>
          <p:cNvPr id="3" name="problem 1 dot"/>
          <p:cNvSpPr/>
          <p:nvPr/>
        </p:nvSpPr>
        <p:spPr>
          <a:xfrm>
            <a:off x="548640" y="1508760"/>
            <a:ext cx="658368" cy="658368"/>
          </a:xfrm>
          <a:prstGeom prst="ellipse">
            <a:avLst/>
          </a:prstGeom>
          <a:solidFill>
            <a:schemeClr val="tx2"/>
          </a:solidFill>
          <a:ln w="12700">
            <a:solidFill>
              <a:schemeClr val="tx2"/>
            </a:solidFill>
            <a:prstDash val="solid"/>
          </a:ln>
        </p:spPr>
      </p:sp>
      <p:pic>
        <p:nvPicPr>
          <p:cNvPr id="4" name="problem 1 icon" descr="preencoded.png">    </p:cNvPr>
          <p:cNvPicPr>
            <a:picLocks noChangeAspect="1"/>
          </p:cNvPicPr>
          <p:nvPr/>
        </p:nvPicPr>
        <p:blipFill>
          <a:blip r:embed="rId1"/>
          <a:stretch>
            <a:fillRect/>
          </a:stretch>
        </p:blipFill>
        <p:spPr>
          <a:xfrm>
            <a:off x="713232" y="1673352"/>
            <a:ext cx="329184" cy="329184"/>
          </a:xfrm>
          <a:prstGeom prst="rect">
            <a:avLst/>
          </a:prstGeom>
        </p:spPr>
      </p:pic>
      <p:sp>
        <p:nvSpPr>
          <p:cNvPr id="5" name="problem title 1"/>
          <p:cNvSpPr txBox="1"/>
          <p:nvPr/>
        </p:nvSpPr>
        <p:spPr>
          <a:xfrm>
            <a:off x="1417320" y="1490472"/>
            <a:ext cx="5852160" cy="411480"/>
          </a:xfrm>
          <a:prstGeom prst="rect">
            <a:avLst/>
          </a:prstGeom>
          <a:noFill/>
          <a:ln/>
        </p:spPr>
        <p:txBody>
          <a:bodyPr wrap="square" lIns="0" tIns="0" rIns="0" bIns="0" rtlCol="0" anchor="ctr"/>
          <a:lstStyle/>
          <a:p>
            <a:pPr indent="0" marL="0">
              <a:buNone/>
            </a:pPr>
            <a:r>
              <a:rPr lang="en-US" sz="1900" b="1" dirty="0">
                <a:solidFill>
                  <a:schemeClr val="tx2"/>
                </a:solidFill>
              </a:rPr>
              <a:t>What may it do, and who decides?</a:t>
            </a:r>
            <a:endParaRPr lang="en-US" sz="1900" dirty="0"/>
          </a:p>
        </p:txBody>
      </p:sp>
      <p:sp>
        <p:nvSpPr>
          <p:cNvPr id="6" name="problem body 1"/>
          <p:cNvSpPr txBox="1"/>
          <p:nvPr/>
        </p:nvSpPr>
        <p:spPr>
          <a:xfrm>
            <a:off x="1417320" y="1920240"/>
            <a:ext cx="5852160" cy="777240"/>
          </a:xfrm>
          <a:prstGeom prst="rect">
            <a:avLst/>
          </a:prstGeom>
          <a:noFill/>
          <a:ln/>
        </p:spPr>
        <p:txBody>
          <a:bodyPr wrap="square" lIns="0" tIns="0" rIns="0" bIns="0" rtlCol="0" anchor="t"/>
          <a:lstStyle/>
          <a:p>
            <a:pPr indent="0" marL="0">
              <a:buNone/>
            </a:pPr>
            <a:r>
              <a:rPr lang="en-US" sz="1500" dirty="0">
                <a:solidFill>
                  <a:schemeClr val="tx1"/>
                </a:solidFill>
              </a:rPr>
              <a:t>A tool list says what an agent can call, not what it is allowed to call here, now, with this evidence.</a:t>
            </a:r>
            <a:endParaRPr lang="en-US" sz="1500" dirty="0"/>
          </a:p>
        </p:txBody>
      </p:sp>
      <p:sp>
        <p:nvSpPr>
          <p:cNvPr id="7" name="problem 2 dot"/>
          <p:cNvSpPr/>
          <p:nvPr/>
        </p:nvSpPr>
        <p:spPr>
          <a:xfrm>
            <a:off x="548640" y="2990088"/>
            <a:ext cx="658368" cy="658368"/>
          </a:xfrm>
          <a:prstGeom prst="ellipse">
            <a:avLst/>
          </a:prstGeom>
          <a:solidFill>
            <a:schemeClr val="tx2"/>
          </a:solidFill>
          <a:ln w="12700">
            <a:solidFill>
              <a:schemeClr val="tx2"/>
            </a:solidFill>
            <a:prstDash val="solid"/>
          </a:ln>
        </p:spPr>
      </p:sp>
      <p:pic>
        <p:nvPicPr>
          <p:cNvPr id="8" name="problem 2 icon" descr="preencoded.png">    </p:cNvPr>
          <p:cNvPicPr>
            <a:picLocks noChangeAspect="1"/>
          </p:cNvPicPr>
          <p:nvPr/>
        </p:nvPicPr>
        <p:blipFill>
          <a:blip r:embed="rId2"/>
          <a:stretch>
            <a:fillRect/>
          </a:stretch>
        </p:blipFill>
        <p:spPr>
          <a:xfrm>
            <a:off x="713232" y="3154680"/>
            <a:ext cx="329184" cy="329184"/>
          </a:xfrm>
          <a:prstGeom prst="rect">
            <a:avLst/>
          </a:prstGeom>
        </p:spPr>
      </p:pic>
      <p:sp>
        <p:nvSpPr>
          <p:cNvPr id="9" name="problem title 2"/>
          <p:cNvSpPr txBox="1"/>
          <p:nvPr/>
        </p:nvSpPr>
        <p:spPr>
          <a:xfrm>
            <a:off x="1417320" y="2971800"/>
            <a:ext cx="5852160" cy="411480"/>
          </a:xfrm>
          <a:prstGeom prst="rect">
            <a:avLst/>
          </a:prstGeom>
          <a:noFill/>
          <a:ln/>
        </p:spPr>
        <p:txBody>
          <a:bodyPr wrap="square" lIns="0" tIns="0" rIns="0" bIns="0" rtlCol="0" anchor="ctr"/>
          <a:lstStyle/>
          <a:p>
            <a:pPr indent="0" marL="0">
              <a:buNone/>
            </a:pPr>
            <a:r>
              <a:rPr lang="en-US" sz="1900" b="1" dirty="0">
                <a:solidFill>
                  <a:schemeClr val="tx2"/>
                </a:solidFill>
              </a:rPr>
              <a:t>How do we know a refusal works?</a:t>
            </a:r>
            <a:endParaRPr lang="en-US" sz="1900" dirty="0"/>
          </a:p>
        </p:txBody>
      </p:sp>
      <p:sp>
        <p:nvSpPr>
          <p:cNvPr id="10" name="problem body 2"/>
          <p:cNvSpPr txBox="1"/>
          <p:nvPr/>
        </p:nvSpPr>
        <p:spPr>
          <a:xfrm>
            <a:off x="1417320" y="3401568"/>
            <a:ext cx="5852160" cy="777240"/>
          </a:xfrm>
          <a:prstGeom prst="rect">
            <a:avLst/>
          </a:prstGeom>
          <a:noFill/>
          <a:ln/>
        </p:spPr>
        <p:txBody>
          <a:bodyPr wrap="square" lIns="0" tIns="0" rIns="0" bIns="0" rtlCol="0" anchor="t"/>
          <a:lstStyle/>
          <a:p>
            <a:pPr indent="0" marL="0">
              <a:buNone/>
            </a:pPr>
            <a:r>
              <a:rPr lang="en-US" sz="1500" dirty="0">
                <a:solidFill>
                  <a:schemeClr val="tx1"/>
                </a:solidFill>
              </a:rPr>
              <a:t>A safety rule that has never refused anything has never been shown to work.</a:t>
            </a:r>
            <a:endParaRPr lang="en-US" sz="1500" dirty="0"/>
          </a:p>
        </p:txBody>
      </p:sp>
      <p:sp>
        <p:nvSpPr>
          <p:cNvPr id="11" name="problem 3 dot"/>
          <p:cNvSpPr/>
          <p:nvPr/>
        </p:nvSpPr>
        <p:spPr>
          <a:xfrm>
            <a:off x="548640" y="4471416"/>
            <a:ext cx="658368" cy="658368"/>
          </a:xfrm>
          <a:prstGeom prst="ellipse">
            <a:avLst/>
          </a:prstGeom>
          <a:solidFill>
            <a:schemeClr val="tx2"/>
          </a:solidFill>
          <a:ln w="12700">
            <a:solidFill>
              <a:schemeClr val="tx2"/>
            </a:solidFill>
            <a:prstDash val="solid"/>
          </a:ln>
        </p:spPr>
      </p:sp>
      <p:pic>
        <p:nvPicPr>
          <p:cNvPr id="12" name="problem 3 icon" descr="preencoded.png">    </p:cNvPr>
          <p:cNvPicPr>
            <a:picLocks noChangeAspect="1"/>
          </p:cNvPicPr>
          <p:nvPr/>
        </p:nvPicPr>
        <p:blipFill>
          <a:blip r:embed="rId3"/>
          <a:stretch>
            <a:fillRect/>
          </a:stretch>
        </p:blipFill>
        <p:spPr>
          <a:xfrm>
            <a:off x="713232" y="4636008"/>
            <a:ext cx="329184" cy="329184"/>
          </a:xfrm>
          <a:prstGeom prst="rect">
            <a:avLst/>
          </a:prstGeom>
        </p:spPr>
      </p:pic>
      <p:sp>
        <p:nvSpPr>
          <p:cNvPr id="13" name="problem title 3"/>
          <p:cNvSpPr txBox="1"/>
          <p:nvPr/>
        </p:nvSpPr>
        <p:spPr>
          <a:xfrm>
            <a:off x="1417320" y="4453128"/>
            <a:ext cx="5852160" cy="411480"/>
          </a:xfrm>
          <a:prstGeom prst="rect">
            <a:avLst/>
          </a:prstGeom>
          <a:noFill/>
          <a:ln/>
        </p:spPr>
        <p:txBody>
          <a:bodyPr wrap="square" lIns="0" tIns="0" rIns="0" bIns="0" rtlCol="0" anchor="ctr"/>
          <a:lstStyle/>
          <a:p>
            <a:pPr indent="0" marL="0">
              <a:buNone/>
            </a:pPr>
            <a:r>
              <a:rPr lang="en-US" sz="1900" b="1" dirty="0">
                <a:solidFill>
                  <a:schemeClr val="tx2"/>
                </a:solidFill>
              </a:rPr>
              <a:t>How does it reach hardware without protocols?</a:t>
            </a:r>
            <a:endParaRPr lang="en-US" sz="1900" dirty="0"/>
          </a:p>
        </p:txBody>
      </p:sp>
      <p:sp>
        <p:nvSpPr>
          <p:cNvPr id="14" name="problem body 3"/>
          <p:cNvSpPr txBox="1"/>
          <p:nvPr/>
        </p:nvSpPr>
        <p:spPr>
          <a:xfrm>
            <a:off x="1417320" y="4882896"/>
            <a:ext cx="5852160" cy="777240"/>
          </a:xfrm>
          <a:prstGeom prst="rect">
            <a:avLst/>
          </a:prstGeom>
          <a:noFill/>
          <a:ln/>
        </p:spPr>
        <p:txBody>
          <a:bodyPr wrap="square" lIns="0" tIns="0" rIns="0" bIns="0" rtlCol="0" anchor="t"/>
          <a:lstStyle/>
          <a:p>
            <a:pPr indent="0" marL="0">
              <a:buNone/>
            </a:pPr>
            <a:r>
              <a:rPr lang="en-US" sz="1500" dirty="0">
                <a:solidFill>
                  <a:schemeClr val="tx1"/>
                </a:solidFill>
              </a:rPr>
              <a:t>If a model can emit a CAN ID, every guard above it can be bypassed by one string.</a:t>
            </a:r>
            <a:endParaRPr lang="en-US" sz="1500" dirty="0"/>
          </a:p>
        </p:txBody>
      </p:sp>
      <p:sp>
        <p:nvSpPr>
          <p:cNvPr id="15" name="ceiling card"/>
          <p:cNvSpPr/>
          <p:nvPr/>
        </p:nvSpPr>
        <p:spPr>
          <a:xfrm>
            <a:off x="7680960" y="1508760"/>
            <a:ext cx="3959352" cy="4526280"/>
          </a:xfrm>
          <a:prstGeom prst="roundRect">
            <a:avLst>
              <a:gd name="adj" fmla="val 1848"/>
            </a:avLst>
          </a:prstGeom>
          <a:solidFill>
            <a:schemeClr val="tx2"/>
          </a:solidFill>
          <a:ln w="12700">
            <a:solidFill>
              <a:schemeClr val="tx2"/>
            </a:solidFill>
            <a:prstDash val="solid"/>
          </a:ln>
        </p:spPr>
      </p:sp>
      <p:sp>
        <p:nvSpPr>
          <p:cNvPr id="16" name="zero"/>
          <p:cNvSpPr txBox="1"/>
          <p:nvPr/>
        </p:nvSpPr>
        <p:spPr>
          <a:xfrm>
            <a:off x="8001000" y="1691640"/>
            <a:ext cx="3291840" cy="1371600"/>
          </a:xfrm>
          <a:prstGeom prst="rect">
            <a:avLst/>
          </a:prstGeom>
          <a:noFill/>
          <a:ln/>
        </p:spPr>
        <p:txBody>
          <a:bodyPr wrap="square" lIns="0" tIns="0" rIns="0" bIns="0" rtlCol="0" anchor="ctr"/>
          <a:lstStyle/>
          <a:p>
            <a:pPr indent="0" marL="0">
              <a:buNone/>
            </a:pPr>
            <a:r>
              <a:rPr lang="en-US" sz="9600" b="1" dirty="0">
                <a:solidFill>
                  <a:schemeClr val="accent1"/>
                </a:solidFill>
              </a:rPr>
              <a:t>0</a:t>
            </a:r>
            <a:endParaRPr lang="en-US" sz="9600" dirty="0"/>
          </a:p>
        </p:txBody>
      </p:sp>
      <p:sp>
        <p:nvSpPr>
          <p:cNvPr id="17" name="zero label"/>
          <p:cNvSpPr txBox="1"/>
          <p:nvPr/>
        </p:nvSpPr>
        <p:spPr>
          <a:xfrm>
            <a:off x="8001000" y="3154680"/>
            <a:ext cx="3383280" cy="914400"/>
          </a:xfrm>
          <a:prstGeom prst="rect">
            <a:avLst/>
          </a:prstGeom>
          <a:noFill/>
          <a:ln/>
        </p:spPr>
        <p:txBody>
          <a:bodyPr wrap="square" lIns="0" tIns="0" rIns="0" bIns="0" rtlCol="0" anchor="t"/>
          <a:lstStyle/>
          <a:p>
            <a:pPr indent="0" marL="0">
              <a:buNone/>
            </a:pPr>
            <a:r>
              <a:rPr lang="en-US" sz="1700" b="1" dirty="0">
                <a:solidFill>
                  <a:schemeClr val="bg1"/>
                </a:solidFill>
              </a:rPr>
              <a:t>times a failure ceiling fired in 19 runs of an earlier evaluation</a:t>
            </a:r>
            <a:endParaRPr lang="en-US" sz="1700" dirty="0"/>
          </a:p>
        </p:txBody>
      </p:sp>
      <p:sp>
        <p:nvSpPr>
          <p:cNvPr id="18" name="zero body"/>
          <p:cNvSpPr txBox="1"/>
          <p:nvPr/>
        </p:nvSpPr>
        <p:spPr>
          <a:xfrm>
            <a:off x="8001000" y="4160520"/>
            <a:ext cx="3383280" cy="1645920"/>
          </a:xfrm>
          <a:prstGeom prst="rect">
            <a:avLst/>
          </a:prstGeom>
          <a:noFill/>
          <a:ln/>
        </p:spPr>
        <p:txBody>
          <a:bodyPr wrap="square" lIns="0" tIns="0" rIns="0" bIns="0" rtlCol="0" anchor="t"/>
          <a:lstStyle/>
          <a:p>
            <a:pPr indent="0" marL="0">
              <a:buNone/>
            </a:pPr>
            <a:r>
              <a:rPr lang="en-US" sz="1400" dirty="0">
                <a:solidFill>
                  <a:schemeClr val="bg2"/>
                </a:solidFill>
              </a:rPr>
              <a:t>Not because it was rarely needed: the tests never created the event. A predicate with eight conditions has eight ways to repeat that mistake.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bg1"/>
                </a:solidFill>
              </a:rPr>
              <a:t>One predicate guards every vehicle call</a:t>
            </a:r>
            <a:endParaRPr lang="en-US" sz="3200" dirty="0"/>
          </a:p>
        </p:txBody>
      </p:sp>
      <p:sp>
        <p:nvSpPr>
          <p:cNvPr id="3" name="formula"/>
          <p:cNvSpPr txBox="1"/>
          <p:nvPr/>
        </p:nvSpPr>
        <p:spPr>
          <a:xfrm>
            <a:off x="548640" y="1325880"/>
            <a:ext cx="11094415" cy="868680"/>
          </a:xfrm>
          <a:prstGeom prst="rect">
            <a:avLst/>
          </a:prstGeom>
          <a:noFill/>
          <a:ln/>
        </p:spPr>
        <p:txBody>
          <a:bodyPr wrap="square" lIns="0" tIns="0" rIns="0" bIns="0" rtlCol="0" anchor="ctr"/>
          <a:lstStyle/>
          <a:p>
            <a:pPr indent="0" marL="0">
              <a:buNone/>
            </a:pPr>
            <a:r>
              <a:rPr lang="en-US" sz="2200" b="1" dirty="0">
                <a:solidFill>
                  <a:schemeClr val="accent1"/>
                </a:solidFill>
                <a:latin typeface="Courier New" pitchFamily="34" charset="0"/>
                <a:ea typeface="Courier New" pitchFamily="34" charset="-122"/>
                <a:cs typeface="Courier New" pitchFamily="34" charset="-120"/>
              </a:rPr>
              <a:t>Allow(q) = Auth ∧ Schema ∧ Fresh ∧ Pre</a:t>
            </a:r>
            <a:endParaRPr lang="en-US" sz="2200" dirty="0"/>
          </a:p>
          <a:p>
            <a:pPr indent="0" marL="0">
              <a:buNone/>
            </a:pPr>
            <a:r>
              <a:rPr lang="en-US" sz="2200" b="1" dirty="0">
                <a:solidFill>
                  <a:schemeClr val="accent1"/>
                </a:solidFill>
                <a:latin typeface="Courier New" pitchFamily="34" charset="0"/>
                <a:ea typeface="Courier New" pitchFamily="34" charset="-122"/>
                <a:cs typeface="Courier New" pitchFamily="34" charset="-120"/>
              </a:rPr>
              <a:t>         ∧ Risk ≤ Permit ∧ Consent ∧ Budget ∧ Before</a:t>
            </a:r>
            <a:endParaRPr lang="en-US" sz="2200" dirty="0"/>
          </a:p>
        </p:txBody>
      </p:sp>
      <p:sp>
        <p:nvSpPr>
          <p:cNvPr id="4" name="conjunct Auth"/>
          <p:cNvSpPr/>
          <p:nvPr/>
        </p:nvSpPr>
        <p:spPr>
          <a:xfrm>
            <a:off x="548640" y="2377440"/>
            <a:ext cx="2606040" cy="1371600"/>
          </a:xfrm>
          <a:prstGeom prst="roundRect">
            <a:avLst>
              <a:gd name="adj" fmla="val 5333"/>
            </a:avLst>
          </a:prstGeom>
          <a:solidFill>
            <a:schemeClr val="accent6"/>
          </a:solidFill>
          <a:ln w="12700">
            <a:solidFill>
              <a:schemeClr val="accent6"/>
            </a:solidFill>
            <a:prstDash val="solid"/>
          </a:ln>
        </p:spPr>
      </p:sp>
      <p:sp>
        <p:nvSpPr>
          <p:cNvPr id="5" name="conjunct name Auth"/>
          <p:cNvSpPr txBox="1"/>
          <p:nvPr/>
        </p:nvSpPr>
        <p:spPr>
          <a:xfrm>
            <a:off x="731520" y="2514600"/>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Auth</a:t>
            </a:r>
            <a:endParaRPr lang="en-US" sz="1900" dirty="0"/>
          </a:p>
        </p:txBody>
      </p:sp>
      <p:sp>
        <p:nvSpPr>
          <p:cNvPr id="6" name="conjunct q Auth"/>
          <p:cNvSpPr txBox="1"/>
          <p:nvPr/>
        </p:nvSpPr>
        <p:spPr>
          <a:xfrm>
            <a:off x="731520" y="2926080"/>
            <a:ext cx="2240280" cy="320040"/>
          </a:xfrm>
          <a:prstGeom prst="rect">
            <a:avLst/>
          </a:prstGeom>
          <a:noFill/>
          <a:ln/>
        </p:spPr>
        <p:txBody>
          <a:bodyPr wrap="square" lIns="0" tIns="0" rIns="0" bIns="0" rtlCol="0" anchor="ctr"/>
          <a:lstStyle/>
          <a:p>
            <a:pPr indent="0" marL="0">
              <a:buNone/>
            </a:pPr>
            <a:r>
              <a:rPr lang="en-US" sz="1400" dirty="0">
                <a:solidFill>
                  <a:schemeClr val="bg2"/>
                </a:solidFill>
              </a:rPr>
              <a:t>in this agent's manifest?</a:t>
            </a:r>
            <a:endParaRPr lang="en-US" sz="1400" dirty="0"/>
          </a:p>
        </p:txBody>
      </p:sp>
      <p:sp>
        <p:nvSpPr>
          <p:cNvPr id="7" name="conjunct code Auth"/>
          <p:cNvSpPr txBox="1"/>
          <p:nvPr/>
        </p:nvSpPr>
        <p:spPr>
          <a:xfrm>
            <a:off x="731520" y="3291840"/>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NOT_IN_MANIFEST</a:t>
            </a:r>
            <a:endParaRPr lang="en-US" sz="1200" dirty="0"/>
          </a:p>
        </p:txBody>
      </p:sp>
      <p:sp>
        <p:nvSpPr>
          <p:cNvPr id="8" name="conjunct Schema"/>
          <p:cNvSpPr/>
          <p:nvPr/>
        </p:nvSpPr>
        <p:spPr>
          <a:xfrm>
            <a:off x="3367735" y="2377440"/>
            <a:ext cx="2606040" cy="1371600"/>
          </a:xfrm>
          <a:prstGeom prst="roundRect">
            <a:avLst>
              <a:gd name="adj" fmla="val 5333"/>
            </a:avLst>
          </a:prstGeom>
          <a:solidFill>
            <a:schemeClr val="accent6"/>
          </a:solidFill>
          <a:ln w="12700">
            <a:solidFill>
              <a:schemeClr val="accent6"/>
            </a:solidFill>
            <a:prstDash val="solid"/>
          </a:ln>
        </p:spPr>
      </p:sp>
      <p:sp>
        <p:nvSpPr>
          <p:cNvPr id="9" name="conjunct name Schema"/>
          <p:cNvSpPr txBox="1"/>
          <p:nvPr/>
        </p:nvSpPr>
        <p:spPr>
          <a:xfrm>
            <a:off x="3550615" y="2514600"/>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Schema</a:t>
            </a:r>
            <a:endParaRPr lang="en-US" sz="1900" dirty="0"/>
          </a:p>
        </p:txBody>
      </p:sp>
      <p:sp>
        <p:nvSpPr>
          <p:cNvPr id="10" name="conjunct q Schema"/>
          <p:cNvSpPr txBox="1"/>
          <p:nvPr/>
        </p:nvSpPr>
        <p:spPr>
          <a:xfrm>
            <a:off x="3550615" y="2926080"/>
            <a:ext cx="2240280" cy="320040"/>
          </a:xfrm>
          <a:prstGeom prst="rect">
            <a:avLst/>
          </a:prstGeom>
          <a:noFill/>
          <a:ln/>
        </p:spPr>
        <p:txBody>
          <a:bodyPr wrap="square" lIns="0" tIns="0" rIns="0" bIns="0" rtlCol="0" anchor="ctr"/>
          <a:lstStyle/>
          <a:p>
            <a:pPr indent="0" marL="0">
              <a:buNone/>
            </a:pPr>
            <a:r>
              <a:rPr lang="en-US" sz="1400" dirty="0">
                <a:solidFill>
                  <a:schemeClr val="bg2"/>
                </a:solidFill>
              </a:rPr>
              <a:t>arguments well formed?</a:t>
            </a:r>
            <a:endParaRPr lang="en-US" sz="1400" dirty="0"/>
          </a:p>
        </p:txBody>
      </p:sp>
      <p:sp>
        <p:nvSpPr>
          <p:cNvPr id="11" name="conjunct code Schema"/>
          <p:cNvSpPr txBox="1"/>
          <p:nvPr/>
        </p:nvSpPr>
        <p:spPr>
          <a:xfrm>
            <a:off x="3550615" y="3291840"/>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SCHEMA_INVALID</a:t>
            </a:r>
            <a:endParaRPr lang="en-US" sz="1200" dirty="0"/>
          </a:p>
        </p:txBody>
      </p:sp>
      <p:sp>
        <p:nvSpPr>
          <p:cNvPr id="12" name="conjunct Fresh"/>
          <p:cNvSpPr/>
          <p:nvPr/>
        </p:nvSpPr>
        <p:spPr>
          <a:xfrm>
            <a:off x="6186830" y="2377440"/>
            <a:ext cx="2606040" cy="1371600"/>
          </a:xfrm>
          <a:prstGeom prst="roundRect">
            <a:avLst>
              <a:gd name="adj" fmla="val 5333"/>
            </a:avLst>
          </a:prstGeom>
          <a:solidFill>
            <a:schemeClr val="accent6"/>
          </a:solidFill>
          <a:ln w="12700">
            <a:solidFill>
              <a:schemeClr val="accent6"/>
            </a:solidFill>
            <a:prstDash val="solid"/>
          </a:ln>
        </p:spPr>
      </p:sp>
      <p:sp>
        <p:nvSpPr>
          <p:cNvPr id="13" name="conjunct name Fresh"/>
          <p:cNvSpPr txBox="1"/>
          <p:nvPr/>
        </p:nvSpPr>
        <p:spPr>
          <a:xfrm>
            <a:off x="6369710" y="2514600"/>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Fresh</a:t>
            </a:r>
            <a:endParaRPr lang="en-US" sz="1900" dirty="0"/>
          </a:p>
        </p:txBody>
      </p:sp>
      <p:sp>
        <p:nvSpPr>
          <p:cNvPr id="14" name="conjunct q Fresh"/>
          <p:cNvSpPr txBox="1"/>
          <p:nvPr/>
        </p:nvSpPr>
        <p:spPr>
          <a:xfrm>
            <a:off x="6369710" y="2926080"/>
            <a:ext cx="2240280" cy="320040"/>
          </a:xfrm>
          <a:prstGeom prst="rect">
            <a:avLst/>
          </a:prstGeom>
          <a:noFill/>
          <a:ln/>
        </p:spPr>
        <p:txBody>
          <a:bodyPr wrap="square" lIns="0" tIns="0" rIns="0" bIns="0" rtlCol="0" anchor="ctr"/>
          <a:lstStyle/>
          <a:p>
            <a:pPr indent="0" marL="0">
              <a:buNone/>
            </a:pPr>
            <a:r>
              <a:rPr lang="en-US" sz="1400" dirty="0">
                <a:solidFill>
                  <a:schemeClr val="bg2"/>
                </a:solidFill>
              </a:rPr>
              <a:t>evidence young enough?</a:t>
            </a:r>
            <a:endParaRPr lang="en-US" sz="1400" dirty="0"/>
          </a:p>
        </p:txBody>
      </p:sp>
      <p:sp>
        <p:nvSpPr>
          <p:cNvPr id="15" name="conjunct code Fresh"/>
          <p:cNvSpPr txBox="1"/>
          <p:nvPr/>
        </p:nvSpPr>
        <p:spPr>
          <a:xfrm>
            <a:off x="6369710" y="3291840"/>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STALE_EVIDENCE</a:t>
            </a:r>
            <a:endParaRPr lang="en-US" sz="1200" dirty="0"/>
          </a:p>
        </p:txBody>
      </p:sp>
      <p:sp>
        <p:nvSpPr>
          <p:cNvPr id="16" name="conjunct Pre"/>
          <p:cNvSpPr/>
          <p:nvPr/>
        </p:nvSpPr>
        <p:spPr>
          <a:xfrm>
            <a:off x="9005926" y="2377440"/>
            <a:ext cx="2606040" cy="1371600"/>
          </a:xfrm>
          <a:prstGeom prst="roundRect">
            <a:avLst>
              <a:gd name="adj" fmla="val 5333"/>
            </a:avLst>
          </a:prstGeom>
          <a:solidFill>
            <a:schemeClr val="accent6"/>
          </a:solidFill>
          <a:ln w="12700">
            <a:solidFill>
              <a:schemeClr val="accent6"/>
            </a:solidFill>
            <a:prstDash val="solid"/>
          </a:ln>
        </p:spPr>
      </p:sp>
      <p:sp>
        <p:nvSpPr>
          <p:cNvPr id="17" name="conjunct name Pre"/>
          <p:cNvSpPr txBox="1"/>
          <p:nvPr/>
        </p:nvSpPr>
        <p:spPr>
          <a:xfrm>
            <a:off x="9188806" y="2514600"/>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Pre</a:t>
            </a:r>
            <a:endParaRPr lang="en-US" sz="1900" dirty="0"/>
          </a:p>
        </p:txBody>
      </p:sp>
      <p:sp>
        <p:nvSpPr>
          <p:cNvPr id="18" name="conjunct q Pre"/>
          <p:cNvSpPr txBox="1"/>
          <p:nvPr/>
        </p:nvSpPr>
        <p:spPr>
          <a:xfrm>
            <a:off x="9188806" y="2926080"/>
            <a:ext cx="2240280" cy="320040"/>
          </a:xfrm>
          <a:prstGeom prst="rect">
            <a:avLst/>
          </a:prstGeom>
          <a:noFill/>
          <a:ln/>
        </p:spPr>
        <p:txBody>
          <a:bodyPr wrap="square" lIns="0" tIns="0" rIns="0" bIns="0" rtlCol="0" anchor="ctr"/>
          <a:lstStyle/>
          <a:p>
            <a:pPr indent="0" marL="0">
              <a:buNone/>
            </a:pPr>
            <a:r>
              <a:rPr lang="en-US" sz="1400" dirty="0">
                <a:solidFill>
                  <a:schemeClr val="bg2"/>
                </a:solidFill>
              </a:rPr>
              <a:t>preconditions hold now?</a:t>
            </a:r>
            <a:endParaRPr lang="en-US" sz="1400" dirty="0"/>
          </a:p>
        </p:txBody>
      </p:sp>
      <p:sp>
        <p:nvSpPr>
          <p:cNvPr id="19" name="conjunct code Pre"/>
          <p:cNvSpPr txBox="1"/>
          <p:nvPr/>
        </p:nvSpPr>
        <p:spPr>
          <a:xfrm>
            <a:off x="9188806" y="3291840"/>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PRECONDITION_UNMET</a:t>
            </a:r>
            <a:endParaRPr lang="en-US" sz="1200" dirty="0"/>
          </a:p>
        </p:txBody>
      </p:sp>
      <p:sp>
        <p:nvSpPr>
          <p:cNvPr id="20" name="conjunct Risk ≤ Permit"/>
          <p:cNvSpPr/>
          <p:nvPr/>
        </p:nvSpPr>
        <p:spPr>
          <a:xfrm>
            <a:off x="548640" y="3950208"/>
            <a:ext cx="2606040" cy="1371600"/>
          </a:xfrm>
          <a:prstGeom prst="roundRect">
            <a:avLst>
              <a:gd name="adj" fmla="val 5333"/>
            </a:avLst>
          </a:prstGeom>
          <a:solidFill>
            <a:schemeClr val="accent6"/>
          </a:solidFill>
          <a:ln w="12700">
            <a:solidFill>
              <a:schemeClr val="accent6"/>
            </a:solidFill>
            <a:prstDash val="solid"/>
          </a:ln>
        </p:spPr>
      </p:sp>
      <p:sp>
        <p:nvSpPr>
          <p:cNvPr id="21" name="conjunct name Risk ≤ Permit"/>
          <p:cNvSpPr txBox="1"/>
          <p:nvPr/>
        </p:nvSpPr>
        <p:spPr>
          <a:xfrm>
            <a:off x="731520" y="4087368"/>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Risk ≤ Permit</a:t>
            </a:r>
            <a:endParaRPr lang="en-US" sz="1900" dirty="0"/>
          </a:p>
        </p:txBody>
      </p:sp>
      <p:sp>
        <p:nvSpPr>
          <p:cNvPr id="22" name="conjunct q Risk ≤ Permit"/>
          <p:cNvSpPr txBox="1"/>
          <p:nvPr/>
        </p:nvSpPr>
        <p:spPr>
          <a:xfrm>
            <a:off x="731520" y="4498848"/>
            <a:ext cx="2240280" cy="320040"/>
          </a:xfrm>
          <a:prstGeom prst="rect">
            <a:avLst/>
          </a:prstGeom>
          <a:noFill/>
          <a:ln/>
        </p:spPr>
        <p:txBody>
          <a:bodyPr wrap="square" lIns="0" tIns="0" rIns="0" bIns="0" rtlCol="0" anchor="ctr"/>
          <a:lstStyle/>
          <a:p>
            <a:pPr indent="0" marL="0">
              <a:buNone/>
            </a:pPr>
            <a:r>
              <a:rPr lang="en-US" sz="1400" dirty="0">
                <a:solidFill>
                  <a:schemeClr val="bg2"/>
                </a:solidFill>
              </a:rPr>
              <a:t>class within the permit?</a:t>
            </a:r>
            <a:endParaRPr lang="en-US" sz="1400" dirty="0"/>
          </a:p>
        </p:txBody>
      </p:sp>
      <p:sp>
        <p:nvSpPr>
          <p:cNvPr id="23" name="conjunct code Risk ≤ Permit"/>
          <p:cNvSpPr txBox="1"/>
          <p:nvPr/>
        </p:nvSpPr>
        <p:spPr>
          <a:xfrm>
            <a:off x="731520" y="4864608"/>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RISK_EXCEEDS_PERMIT</a:t>
            </a:r>
            <a:endParaRPr lang="en-US" sz="1200" dirty="0"/>
          </a:p>
        </p:txBody>
      </p:sp>
      <p:sp>
        <p:nvSpPr>
          <p:cNvPr id="24" name="conjunct Consent"/>
          <p:cNvSpPr/>
          <p:nvPr/>
        </p:nvSpPr>
        <p:spPr>
          <a:xfrm>
            <a:off x="3367735" y="3950208"/>
            <a:ext cx="2606040" cy="1371600"/>
          </a:xfrm>
          <a:prstGeom prst="roundRect">
            <a:avLst>
              <a:gd name="adj" fmla="val 5333"/>
            </a:avLst>
          </a:prstGeom>
          <a:solidFill>
            <a:schemeClr val="accent6"/>
          </a:solidFill>
          <a:ln w="12700">
            <a:solidFill>
              <a:schemeClr val="accent6"/>
            </a:solidFill>
            <a:prstDash val="solid"/>
          </a:ln>
        </p:spPr>
      </p:sp>
      <p:sp>
        <p:nvSpPr>
          <p:cNvPr id="25" name="conjunct name Consent"/>
          <p:cNvSpPr txBox="1"/>
          <p:nvPr/>
        </p:nvSpPr>
        <p:spPr>
          <a:xfrm>
            <a:off x="3550615" y="4087368"/>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Consent</a:t>
            </a:r>
            <a:endParaRPr lang="en-US" sz="1900" dirty="0"/>
          </a:p>
        </p:txBody>
      </p:sp>
      <p:sp>
        <p:nvSpPr>
          <p:cNvPr id="26" name="conjunct q Consent"/>
          <p:cNvSpPr txBox="1"/>
          <p:nvPr/>
        </p:nvSpPr>
        <p:spPr>
          <a:xfrm>
            <a:off x="3550615" y="4498848"/>
            <a:ext cx="2240280" cy="320040"/>
          </a:xfrm>
          <a:prstGeom prst="rect">
            <a:avLst/>
          </a:prstGeom>
          <a:noFill/>
          <a:ln/>
        </p:spPr>
        <p:txBody>
          <a:bodyPr wrap="square" lIns="0" tIns="0" rIns="0" bIns="0" rtlCol="0" anchor="ctr"/>
          <a:lstStyle/>
          <a:p>
            <a:pPr indent="0" marL="0">
              <a:buNone/>
            </a:pPr>
            <a:r>
              <a:rPr lang="en-US" sz="1400" dirty="0">
                <a:solidFill>
                  <a:schemeClr val="bg2"/>
                </a:solidFill>
              </a:rPr>
              <a:t>data use consented?</a:t>
            </a:r>
            <a:endParaRPr lang="en-US" sz="1400" dirty="0"/>
          </a:p>
        </p:txBody>
      </p:sp>
      <p:sp>
        <p:nvSpPr>
          <p:cNvPr id="27" name="conjunct code Consent"/>
          <p:cNvSpPr txBox="1"/>
          <p:nvPr/>
        </p:nvSpPr>
        <p:spPr>
          <a:xfrm>
            <a:off x="3550615" y="4864608"/>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REDACTION_UNAVAILABLE</a:t>
            </a:r>
            <a:endParaRPr lang="en-US" sz="1200" dirty="0"/>
          </a:p>
        </p:txBody>
      </p:sp>
      <p:sp>
        <p:nvSpPr>
          <p:cNvPr id="28" name="conjunct Budget"/>
          <p:cNvSpPr/>
          <p:nvPr/>
        </p:nvSpPr>
        <p:spPr>
          <a:xfrm>
            <a:off x="6186830" y="3950208"/>
            <a:ext cx="2606040" cy="1371600"/>
          </a:xfrm>
          <a:prstGeom prst="roundRect">
            <a:avLst>
              <a:gd name="adj" fmla="val 5333"/>
            </a:avLst>
          </a:prstGeom>
          <a:solidFill>
            <a:schemeClr val="accent6"/>
          </a:solidFill>
          <a:ln w="12700">
            <a:solidFill>
              <a:schemeClr val="accent6"/>
            </a:solidFill>
            <a:prstDash val="solid"/>
          </a:ln>
        </p:spPr>
      </p:sp>
      <p:sp>
        <p:nvSpPr>
          <p:cNvPr id="29" name="conjunct name Budget"/>
          <p:cNvSpPr txBox="1"/>
          <p:nvPr/>
        </p:nvSpPr>
        <p:spPr>
          <a:xfrm>
            <a:off x="6369710" y="4087368"/>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Budget</a:t>
            </a:r>
            <a:endParaRPr lang="en-US" sz="1900" dirty="0"/>
          </a:p>
        </p:txBody>
      </p:sp>
      <p:sp>
        <p:nvSpPr>
          <p:cNvPr id="30" name="conjunct q Budget"/>
          <p:cNvSpPr txBox="1"/>
          <p:nvPr/>
        </p:nvSpPr>
        <p:spPr>
          <a:xfrm>
            <a:off x="6369710" y="4498848"/>
            <a:ext cx="2240280" cy="320040"/>
          </a:xfrm>
          <a:prstGeom prst="rect">
            <a:avLst/>
          </a:prstGeom>
          <a:noFill/>
          <a:ln/>
        </p:spPr>
        <p:txBody>
          <a:bodyPr wrap="square" lIns="0" tIns="0" rIns="0" bIns="0" rtlCol="0" anchor="ctr"/>
          <a:lstStyle/>
          <a:p>
            <a:pPr indent="0" marL="0">
              <a:buNone/>
            </a:pPr>
            <a:r>
              <a:rPr lang="en-US" sz="1400" dirty="0">
                <a:solidFill>
                  <a:schemeClr val="bg2"/>
                </a:solidFill>
              </a:rPr>
              <a:t>calls and cost left?</a:t>
            </a:r>
            <a:endParaRPr lang="en-US" sz="1400" dirty="0"/>
          </a:p>
        </p:txBody>
      </p:sp>
      <p:sp>
        <p:nvSpPr>
          <p:cNvPr id="31" name="conjunct code Budget"/>
          <p:cNvSpPr txBox="1"/>
          <p:nvPr/>
        </p:nvSpPr>
        <p:spPr>
          <a:xfrm>
            <a:off x="6369710" y="4864608"/>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BUDGET_EXHAUSTED</a:t>
            </a:r>
            <a:endParaRPr lang="en-US" sz="1200" dirty="0"/>
          </a:p>
        </p:txBody>
      </p:sp>
      <p:sp>
        <p:nvSpPr>
          <p:cNvPr id="32" name="conjunct Before"/>
          <p:cNvSpPr/>
          <p:nvPr/>
        </p:nvSpPr>
        <p:spPr>
          <a:xfrm>
            <a:off x="9005926" y="3950208"/>
            <a:ext cx="2606040" cy="1371600"/>
          </a:xfrm>
          <a:prstGeom prst="roundRect">
            <a:avLst>
              <a:gd name="adj" fmla="val 5333"/>
            </a:avLst>
          </a:prstGeom>
          <a:solidFill>
            <a:schemeClr val="accent6"/>
          </a:solidFill>
          <a:ln w="12700">
            <a:solidFill>
              <a:schemeClr val="accent6"/>
            </a:solidFill>
            <a:prstDash val="solid"/>
          </a:ln>
        </p:spPr>
      </p:sp>
      <p:sp>
        <p:nvSpPr>
          <p:cNvPr id="33" name="conjunct name Before"/>
          <p:cNvSpPr txBox="1"/>
          <p:nvPr/>
        </p:nvSpPr>
        <p:spPr>
          <a:xfrm>
            <a:off x="9188806" y="4087368"/>
            <a:ext cx="2240280" cy="411480"/>
          </a:xfrm>
          <a:prstGeom prst="rect">
            <a:avLst/>
          </a:prstGeom>
          <a:noFill/>
          <a:ln/>
        </p:spPr>
        <p:txBody>
          <a:bodyPr wrap="square" lIns="0" tIns="0" rIns="0" bIns="0" rtlCol="0" anchor="ctr"/>
          <a:lstStyle/>
          <a:p>
            <a:pPr indent="0" marL="0">
              <a:buNone/>
            </a:pPr>
            <a:r>
              <a:rPr lang="en-US" sz="1900" b="1" dirty="0">
                <a:solidFill>
                  <a:schemeClr val="bg1"/>
                </a:solidFill>
              </a:rPr>
              <a:t>Before</a:t>
            </a:r>
            <a:endParaRPr lang="en-US" sz="1900" dirty="0"/>
          </a:p>
        </p:txBody>
      </p:sp>
      <p:sp>
        <p:nvSpPr>
          <p:cNvPr id="34" name="conjunct q Before"/>
          <p:cNvSpPr txBox="1"/>
          <p:nvPr/>
        </p:nvSpPr>
        <p:spPr>
          <a:xfrm>
            <a:off x="9188806" y="4498848"/>
            <a:ext cx="2240280" cy="320040"/>
          </a:xfrm>
          <a:prstGeom prst="rect">
            <a:avLst/>
          </a:prstGeom>
          <a:noFill/>
          <a:ln/>
        </p:spPr>
        <p:txBody>
          <a:bodyPr wrap="square" lIns="0" tIns="0" rIns="0" bIns="0" rtlCol="0" anchor="ctr"/>
          <a:lstStyle/>
          <a:p>
            <a:pPr indent="0" marL="0">
              <a:buNone/>
            </a:pPr>
            <a:r>
              <a:rPr lang="en-US" sz="1400" dirty="0">
                <a:solidFill>
                  <a:schemeClr val="bg2"/>
                </a:solidFill>
              </a:rPr>
              <a:t>inside the deadline?</a:t>
            </a:r>
            <a:endParaRPr lang="en-US" sz="1400" dirty="0"/>
          </a:p>
        </p:txBody>
      </p:sp>
      <p:sp>
        <p:nvSpPr>
          <p:cNvPr id="35" name="conjunct code Before"/>
          <p:cNvSpPr txBox="1"/>
          <p:nvPr/>
        </p:nvSpPr>
        <p:spPr>
          <a:xfrm>
            <a:off x="9188806" y="4864608"/>
            <a:ext cx="224028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DEADLINE_EXCEEDED</a:t>
            </a:r>
            <a:endParaRPr lang="en-US" sz="1200" dirty="0"/>
          </a:p>
        </p:txBody>
      </p:sp>
      <p:sp>
        <p:nvSpPr>
          <p:cNvPr id="36" name="thesis line"/>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dirty="0">
                <a:solidFill>
                  <a:schemeClr val="bg1"/>
                </a:solidFill>
              </a:rPr>
              <a:t>Each conjunct must deny on its own, name itself, and leave evidence. All 8 are made to deny, with their own code, on every run.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L4 is the only way down</a:t>
            </a:r>
            <a:endParaRPr lang="en-US" sz="3200" dirty="0"/>
          </a:p>
        </p:txBody>
      </p:sp>
      <p:sp>
        <p:nvSpPr>
          <p:cNvPr id="3" name="layer L9"/>
          <p:cNvSpPr txBox="1"/>
          <p:nvPr/>
        </p:nvSpPr>
        <p:spPr>
          <a:xfrm>
            <a:off x="548640" y="1417320"/>
            <a:ext cx="6309360" cy="411480"/>
          </a:xfrm>
          <a:prstGeom prst="roundRect">
            <a:avLst>
              <a:gd name="adj" fmla="val 13333"/>
            </a:avLst>
          </a:prstGeom>
          <a:solidFill>
            <a:schemeClr val="bg1"/>
          </a:solidFill>
          <a:ln>
            <a:solidFill>
              <a:schemeClr val="accent5"/>
            </a:solidFill>
            <a:prstDash val="dash"/>
          </a:ln>
        </p:spPr>
        <p:txBody>
          <a:bodyPr wrap="square" lIns="0" tIns="127000" rIns="127000" bIns="0" rtlCol="0" anchor="ctr"/>
          <a:lstStyle/>
          <a:p>
            <a:pPr indent="0" marL="0">
              <a:buNone/>
            </a:pPr>
            <a:r>
              <a:rPr lang="en-US" sz="1400" b="1" dirty="0">
                <a:solidFill>
                  <a:schemeClr val="accent5"/>
                </a:solidFill>
              </a:rPr>
              <a:t>L9   </a:t>
            </a:r>
            <a:pPr indent="0" marL="0">
              <a:buNone/>
            </a:pPr>
            <a:r>
              <a:rPr lang="en-US" sz="1400" dirty="0">
                <a:solidFill>
                  <a:schemeClr val="accent5"/>
                </a:solidFill>
              </a:rPr>
              <a:t>Cloud / depot — optional, off</a:t>
            </a:r>
            <a:endParaRPr lang="en-US" sz="1400" dirty="0"/>
          </a:p>
        </p:txBody>
      </p:sp>
      <p:sp>
        <p:nvSpPr>
          <p:cNvPr id="4" name="layer L8"/>
          <p:cNvSpPr txBox="1"/>
          <p:nvPr/>
        </p:nvSpPr>
        <p:spPr>
          <a:xfrm>
            <a:off x="548640" y="1892808"/>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L8   </a:t>
            </a:r>
            <a:pPr indent="0" marL="0">
              <a:buNone/>
            </a:pPr>
            <a:r>
              <a:rPr lang="en-US" sz="1400" dirty="0">
                <a:solidFill>
                  <a:schemeClr val="tx2"/>
                </a:solidFill>
              </a:rPr>
              <a:t>Experience — cabin display, voice, console</a:t>
            </a:r>
            <a:endParaRPr lang="en-US" sz="1400" dirty="0"/>
          </a:p>
        </p:txBody>
      </p:sp>
      <p:sp>
        <p:nvSpPr>
          <p:cNvPr id="5" name="layer L7"/>
          <p:cNvSpPr txBox="1"/>
          <p:nvPr/>
        </p:nvSpPr>
        <p:spPr>
          <a:xfrm>
            <a:off x="548640" y="2368296"/>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L7   </a:t>
            </a:r>
            <a:pPr indent="0" marL="0">
              <a:buNone/>
            </a:pPr>
            <a:r>
              <a:rPr lang="en-US" sz="1400" dirty="0">
                <a:solidFill>
                  <a:schemeClr val="tx2"/>
                </a:solidFill>
              </a:rPr>
              <a:t>Orchestration — fast route, planner, budgets</a:t>
            </a:r>
            <a:endParaRPr lang="en-US" sz="1400" dirty="0"/>
          </a:p>
        </p:txBody>
      </p:sp>
      <p:sp>
        <p:nvSpPr>
          <p:cNvPr id="6" name="layer L6"/>
          <p:cNvSpPr txBox="1"/>
          <p:nvPr/>
        </p:nvSpPr>
        <p:spPr>
          <a:xfrm>
            <a:off x="548640" y="2843784"/>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L6   </a:t>
            </a:r>
            <a:pPr indent="0" marL="0">
              <a:buNone/>
            </a:pPr>
            <a:r>
              <a:rPr lang="en-US" sz="1400" dirty="0">
                <a:solidFill>
                  <a:schemeClr val="tx2"/>
                </a:solidFill>
              </a:rPr>
              <a:t>Specialised agent — read-only vehicle agent</a:t>
            </a:r>
            <a:endParaRPr lang="en-US" sz="1400" dirty="0"/>
          </a:p>
        </p:txBody>
      </p:sp>
      <p:sp>
        <p:nvSpPr>
          <p:cNvPr id="7" name="layer L5"/>
          <p:cNvSpPr txBox="1"/>
          <p:nvPr/>
        </p:nvSpPr>
        <p:spPr>
          <a:xfrm>
            <a:off x="548640" y="3319272"/>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L5   </a:t>
            </a:r>
            <a:pPr indent="0" marL="0">
              <a:buNone/>
            </a:pPr>
            <a:r>
              <a:rPr lang="en-US" sz="1400" dirty="0">
                <a:solidFill>
                  <a:schemeClr val="tx2"/>
                </a:solidFill>
              </a:rPr>
              <a:t>Shared intelligence — knowledge, driver state</a:t>
            </a:r>
            <a:endParaRPr lang="en-US" sz="1400" dirty="0"/>
          </a:p>
        </p:txBody>
      </p:sp>
      <p:sp>
        <p:nvSpPr>
          <p:cNvPr id="8" name="layer L4"/>
          <p:cNvSpPr txBox="1"/>
          <p:nvPr/>
        </p:nvSpPr>
        <p:spPr>
          <a:xfrm>
            <a:off x="548640" y="3794760"/>
            <a:ext cx="6309360" cy="411480"/>
          </a:xfrm>
          <a:prstGeom prst="roundRect">
            <a:avLst>
              <a:gd name="adj" fmla="val 13333"/>
            </a:avLst>
          </a:prstGeom>
          <a:solidFill>
            <a:schemeClr val="accent1"/>
          </a:solidFill>
          <a:ln>
            <a:solidFill>
              <a:schemeClr val="accent1"/>
            </a:solidFill>
            <a:prstDash val="solid"/>
          </a:ln>
        </p:spPr>
        <p:txBody>
          <a:bodyPr wrap="square" lIns="0" tIns="127000" rIns="127000" bIns="0" rtlCol="0" anchor="ctr"/>
          <a:lstStyle/>
          <a:p>
            <a:pPr indent="0" marL="0">
              <a:buNone/>
            </a:pPr>
            <a:r>
              <a:rPr lang="en-US" sz="1400" b="1" dirty="0">
                <a:solidFill>
                  <a:schemeClr val="tx2"/>
                </a:solidFill>
              </a:rPr>
              <a:t>L4   </a:t>
            </a:r>
            <a:pPr indent="0" marL="0">
              <a:buNone/>
            </a:pPr>
            <a:r>
              <a:rPr lang="en-US" sz="1400" b="1" dirty="0">
                <a:solidFill>
                  <a:schemeClr val="tx2"/>
                </a:solidFill>
              </a:rPr>
              <a:t>Capability gateway — Allow(q) · MCP · journal</a:t>
            </a:r>
            <a:endParaRPr lang="en-US" sz="1400" dirty="0"/>
          </a:p>
        </p:txBody>
      </p:sp>
      <p:sp>
        <p:nvSpPr>
          <p:cNvPr id="9" name="layer L3"/>
          <p:cNvSpPr txBox="1"/>
          <p:nvPr/>
        </p:nvSpPr>
        <p:spPr>
          <a:xfrm>
            <a:off x="548640" y="4270248"/>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L3   </a:t>
            </a:r>
            <a:pPr indent="0" marL="0">
              <a:buNone/>
            </a:pPr>
            <a:r>
              <a:rPr lang="en-US" sz="1400" dirty="0">
                <a:solidFill>
                  <a:schemeClr val="tx2"/>
                </a:solidFill>
              </a:rPr>
              <a:t>Vehicle services — SOVD north face over MHS</a:t>
            </a:r>
            <a:endParaRPr lang="en-US" sz="1400" dirty="0"/>
          </a:p>
        </p:txBody>
      </p:sp>
      <p:sp>
        <p:nvSpPr>
          <p:cNvPr id="10" name="layer L2"/>
          <p:cNvSpPr txBox="1"/>
          <p:nvPr/>
        </p:nvSpPr>
        <p:spPr>
          <a:xfrm>
            <a:off x="548640" y="4745736"/>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L2   </a:t>
            </a:r>
            <a:pPr indent="0" marL="0">
              <a:buNone/>
            </a:pPr>
            <a:r>
              <a:rPr lang="en-US" sz="1400" dirty="0">
                <a:solidFill>
                  <a:schemeClr val="tx2"/>
                </a:solidFill>
              </a:rPr>
              <a:t>Signals and transport — KUKSA · CAN</a:t>
            </a:r>
            <a:endParaRPr lang="en-US" sz="1400" dirty="0"/>
          </a:p>
        </p:txBody>
      </p:sp>
      <p:sp>
        <p:nvSpPr>
          <p:cNvPr id="11" name="layer L1"/>
          <p:cNvSpPr txBox="1"/>
          <p:nvPr/>
        </p:nvSpPr>
        <p:spPr>
          <a:xfrm>
            <a:off x="548640" y="5221224"/>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L1   </a:t>
            </a:r>
            <a:pPr indent="0" marL="0">
              <a:buNone/>
            </a:pPr>
            <a:r>
              <a:rPr lang="en-US" sz="1400" dirty="0">
                <a:solidFill>
                  <a:schemeClr val="tx2"/>
                </a:solidFill>
              </a:rPr>
              <a:t>Runtime — Jetson + Pi, containers, models</a:t>
            </a:r>
            <a:endParaRPr lang="en-US" sz="1400" dirty="0"/>
          </a:p>
        </p:txBody>
      </p:sp>
      <p:sp>
        <p:nvSpPr>
          <p:cNvPr id="12" name="layer L0"/>
          <p:cNvSpPr txBox="1"/>
          <p:nvPr/>
        </p:nvSpPr>
        <p:spPr>
          <a:xfrm>
            <a:off x="548640" y="5696712"/>
            <a:ext cx="6309360" cy="411480"/>
          </a:xfrm>
          <a:prstGeom prst="roundRect">
            <a:avLst>
              <a:gd name="adj" fmla="val 13333"/>
            </a:avLst>
          </a:prstGeom>
          <a:solidFill>
            <a:schemeClr val="bg2"/>
          </a:solidFill>
          <a:ln>
            <a:solidFill>
              <a:schemeClr val="bg2"/>
            </a:solidFill>
            <a:prstDash val="solid"/>
          </a:ln>
        </p:spPr>
        <p:txBody>
          <a:bodyPr wrap="square" lIns="0" tIns="127000" rIns="127000" bIns="0" rtlCol="0" anchor="ctr"/>
          <a:lstStyle/>
          <a:p>
            <a:pPr indent="0" marL="0">
              <a:buNone/>
            </a:pPr>
            <a:r>
              <a:rPr lang="en-US" sz="1400" b="1" dirty="0">
                <a:solidFill>
                  <a:schemeClr val="tx2"/>
                </a:solidFill>
              </a:rPr>
              <a:t>L0   </a:t>
            </a:r>
            <a:pPr indent="0" marL="0">
              <a:buNone/>
            </a:pPr>
            <a:r>
              <a:rPr lang="en-US" sz="1400" dirty="0">
                <a:solidFill>
                  <a:schemeClr val="tx2"/>
                </a:solidFill>
              </a:rPr>
              <a:t>Physical — ECUs, sensors, deterministic controllers</a:t>
            </a:r>
            <a:endParaRPr lang="en-US" sz="1400" dirty="0"/>
          </a:p>
        </p:txBody>
      </p:sp>
      <p:sp>
        <p:nvSpPr>
          <p:cNvPr id="13" name="invariants head"/>
          <p:cNvSpPr txBox="1"/>
          <p:nvPr/>
        </p:nvSpPr>
        <p:spPr>
          <a:xfrm>
            <a:off x="7315200" y="1417320"/>
            <a:ext cx="4325112" cy="411480"/>
          </a:xfrm>
          <a:prstGeom prst="rect">
            <a:avLst/>
          </a:prstGeom>
          <a:noFill/>
          <a:ln/>
        </p:spPr>
        <p:txBody>
          <a:bodyPr wrap="square" lIns="0" tIns="0" rIns="0" bIns="0" rtlCol="0" anchor="ctr"/>
          <a:lstStyle/>
          <a:p>
            <a:pPr indent="0" marL="0">
              <a:buNone/>
            </a:pPr>
            <a:r>
              <a:rPr lang="en-US" sz="1800" b="1" dirty="0">
                <a:solidFill>
                  <a:schemeClr val="tx2"/>
                </a:solidFill>
              </a:rPr>
              <a:t>Invariants — each has a test that runs every time</a:t>
            </a:r>
            <a:endParaRPr lang="en-US" sz="1800" dirty="0"/>
          </a:p>
        </p:txBody>
      </p:sp>
      <p:sp>
        <p:nvSpPr>
          <p:cNvPr id="14" name="inv chip I1"/>
          <p:cNvSpPr txBox="1"/>
          <p:nvPr/>
        </p:nvSpPr>
        <p:spPr>
          <a:xfrm>
            <a:off x="7315200" y="2002536"/>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I1</a:t>
            </a:r>
            <a:endParaRPr lang="en-US" sz="1200" dirty="0"/>
          </a:p>
        </p:txBody>
      </p:sp>
      <p:sp>
        <p:nvSpPr>
          <p:cNvPr id="15" name="inv text I1"/>
          <p:cNvSpPr txBox="1"/>
          <p:nvPr/>
        </p:nvSpPr>
        <p:spPr>
          <a:xfrm>
            <a:off x="7955280" y="1965960"/>
            <a:ext cx="3685032" cy="384048"/>
          </a:xfrm>
          <a:prstGeom prst="rect">
            <a:avLst/>
          </a:prstGeom>
          <a:noFill/>
          <a:ln/>
        </p:spPr>
        <p:txBody>
          <a:bodyPr wrap="square" lIns="0" tIns="0" rIns="0" bIns="0" rtlCol="0" anchor="ctr"/>
          <a:lstStyle/>
          <a:p>
            <a:pPr indent="0" marL="0">
              <a:buNone/>
            </a:pPr>
            <a:r>
              <a:rPr lang="en-US" sz="1400" dirty="0">
                <a:solidFill>
                  <a:schemeClr val="tx1"/>
                </a:solidFill>
              </a:rPr>
              <a:t>No model or agent touches a vehicle interface</a:t>
            </a:r>
            <a:endParaRPr lang="en-US" sz="1400" dirty="0"/>
          </a:p>
        </p:txBody>
      </p:sp>
      <p:sp>
        <p:nvSpPr>
          <p:cNvPr id="16" name="inv chip I2"/>
          <p:cNvSpPr txBox="1"/>
          <p:nvPr/>
        </p:nvSpPr>
        <p:spPr>
          <a:xfrm>
            <a:off x="7315200" y="2587752"/>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I2</a:t>
            </a:r>
            <a:endParaRPr lang="en-US" sz="1200" dirty="0"/>
          </a:p>
        </p:txBody>
      </p:sp>
      <p:sp>
        <p:nvSpPr>
          <p:cNvPr id="17" name="inv text I2"/>
          <p:cNvSpPr txBox="1"/>
          <p:nvPr/>
        </p:nvSpPr>
        <p:spPr>
          <a:xfrm>
            <a:off x="7955280" y="2551176"/>
            <a:ext cx="3685032" cy="384048"/>
          </a:xfrm>
          <a:prstGeom prst="rect">
            <a:avLst/>
          </a:prstGeom>
          <a:noFill/>
          <a:ln/>
        </p:spPr>
        <p:txBody>
          <a:bodyPr wrap="square" lIns="0" tIns="0" rIns="0" bIns="0" rtlCol="0" anchor="ctr"/>
          <a:lstStyle/>
          <a:p>
            <a:pPr indent="0" marL="0">
              <a:buNone/>
            </a:pPr>
            <a:r>
              <a:rPr lang="en-US" sz="1400" dirty="0">
                <a:solidFill>
                  <a:schemeClr val="tx1"/>
                </a:solidFill>
              </a:rPr>
              <a:t>Only L3 adapters speak a protocol</a:t>
            </a:r>
            <a:endParaRPr lang="en-US" sz="1400" dirty="0"/>
          </a:p>
        </p:txBody>
      </p:sp>
      <p:sp>
        <p:nvSpPr>
          <p:cNvPr id="18" name="inv chip I3"/>
          <p:cNvSpPr txBox="1"/>
          <p:nvPr/>
        </p:nvSpPr>
        <p:spPr>
          <a:xfrm>
            <a:off x="7315200" y="3172968"/>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I3</a:t>
            </a:r>
            <a:endParaRPr lang="en-US" sz="1200" dirty="0"/>
          </a:p>
        </p:txBody>
      </p:sp>
      <p:sp>
        <p:nvSpPr>
          <p:cNvPr id="19" name="inv text I3"/>
          <p:cNvSpPr txBox="1"/>
          <p:nvPr/>
        </p:nvSpPr>
        <p:spPr>
          <a:xfrm>
            <a:off x="7955280" y="3136392"/>
            <a:ext cx="3685032" cy="384048"/>
          </a:xfrm>
          <a:prstGeom prst="rect">
            <a:avLst/>
          </a:prstGeom>
          <a:noFill/>
          <a:ln/>
        </p:spPr>
        <p:txBody>
          <a:bodyPr wrap="square" lIns="0" tIns="0" rIns="0" bIns="0" rtlCol="0" anchor="ctr"/>
          <a:lstStyle/>
          <a:p>
            <a:pPr indent="0" marL="0">
              <a:buNone/>
            </a:pPr>
            <a:r>
              <a:rPr lang="en-US" sz="1400" dirty="0">
                <a:solidFill>
                  <a:schemeClr val="tx1"/>
                </a:solidFill>
              </a:rPr>
              <a:t>No CAN, service or UDS IDs in any capability</a:t>
            </a:r>
            <a:endParaRPr lang="en-US" sz="1400" dirty="0"/>
          </a:p>
        </p:txBody>
      </p:sp>
      <p:sp>
        <p:nvSpPr>
          <p:cNvPr id="20" name="inv chip I4"/>
          <p:cNvSpPr txBox="1"/>
          <p:nvPr/>
        </p:nvSpPr>
        <p:spPr>
          <a:xfrm>
            <a:off x="7315200" y="3758184"/>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I4</a:t>
            </a:r>
            <a:endParaRPr lang="en-US" sz="1200" dirty="0"/>
          </a:p>
        </p:txBody>
      </p:sp>
      <p:sp>
        <p:nvSpPr>
          <p:cNvPr id="21" name="inv text I4"/>
          <p:cNvSpPr txBox="1"/>
          <p:nvPr/>
        </p:nvSpPr>
        <p:spPr>
          <a:xfrm>
            <a:off x="7955280" y="3721608"/>
            <a:ext cx="3685032" cy="384048"/>
          </a:xfrm>
          <a:prstGeom prst="rect">
            <a:avLst/>
          </a:prstGeom>
          <a:noFill/>
          <a:ln/>
        </p:spPr>
        <p:txBody>
          <a:bodyPr wrap="square" lIns="0" tIns="0" rIns="0" bIns="0" rtlCol="0" anchor="ctr"/>
          <a:lstStyle/>
          <a:p>
            <a:pPr indent="0" marL="0">
              <a:buNone/>
            </a:pPr>
            <a:r>
              <a:rPr lang="en-US" sz="1400" dirty="0">
                <a:solidFill>
                  <a:schemeClr val="tx1"/>
                </a:solidFill>
              </a:rPr>
              <a:t>High-rate data never crosses L4</a:t>
            </a:r>
            <a:endParaRPr lang="en-US" sz="1400" dirty="0"/>
          </a:p>
        </p:txBody>
      </p:sp>
      <p:sp>
        <p:nvSpPr>
          <p:cNvPr id="22" name="inv chip I5"/>
          <p:cNvSpPr txBox="1"/>
          <p:nvPr/>
        </p:nvSpPr>
        <p:spPr>
          <a:xfrm>
            <a:off x="7315200" y="4343400"/>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I5</a:t>
            </a:r>
            <a:endParaRPr lang="en-US" sz="1200" dirty="0"/>
          </a:p>
        </p:txBody>
      </p:sp>
      <p:sp>
        <p:nvSpPr>
          <p:cNvPr id="23" name="inv text I5"/>
          <p:cNvSpPr txBox="1"/>
          <p:nvPr/>
        </p:nvSpPr>
        <p:spPr>
          <a:xfrm>
            <a:off x="7955280" y="4306824"/>
            <a:ext cx="3685032" cy="384048"/>
          </a:xfrm>
          <a:prstGeom prst="rect">
            <a:avLst/>
          </a:prstGeom>
          <a:noFill/>
          <a:ln/>
        </p:spPr>
        <p:txBody>
          <a:bodyPr wrap="square" lIns="0" tIns="0" rIns="0" bIns="0" rtlCol="0" anchor="ctr"/>
          <a:lstStyle/>
          <a:p>
            <a:pPr indent="0" marL="0">
              <a:buNone/>
            </a:pPr>
            <a:r>
              <a:rPr lang="en-US" sz="1400" dirty="0">
                <a:solidFill>
                  <a:schemeClr val="tx1"/>
                </a:solidFill>
              </a:rPr>
              <a:t>Deterministic controllers stay authoritative</a:t>
            </a:r>
            <a:endParaRPr lang="en-US" sz="1400" dirty="0"/>
          </a:p>
        </p:txBody>
      </p:sp>
      <p:sp>
        <p:nvSpPr>
          <p:cNvPr id="24" name="inv chip I6"/>
          <p:cNvSpPr txBox="1"/>
          <p:nvPr/>
        </p:nvSpPr>
        <p:spPr>
          <a:xfrm>
            <a:off x="7315200" y="4928616"/>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I6</a:t>
            </a:r>
            <a:endParaRPr lang="en-US" sz="1200" dirty="0"/>
          </a:p>
        </p:txBody>
      </p:sp>
      <p:sp>
        <p:nvSpPr>
          <p:cNvPr id="25" name="inv text I6"/>
          <p:cNvSpPr txBox="1"/>
          <p:nvPr/>
        </p:nvSpPr>
        <p:spPr>
          <a:xfrm>
            <a:off x="7955280" y="4892040"/>
            <a:ext cx="3685032" cy="384048"/>
          </a:xfrm>
          <a:prstGeom prst="rect">
            <a:avLst/>
          </a:prstGeom>
          <a:noFill/>
          <a:ln/>
        </p:spPr>
        <p:txBody>
          <a:bodyPr wrap="square" lIns="0" tIns="0" rIns="0" bIns="0" rtlCol="0" anchor="ctr"/>
          <a:lstStyle/>
          <a:p>
            <a:pPr indent="0" marL="0">
              <a:buNone/>
            </a:pPr>
            <a:r>
              <a:rPr lang="en-US" sz="1400" dirty="0">
                <a:solidFill>
                  <a:schemeClr val="tx1"/>
                </a:solidFill>
              </a:rPr>
              <a:t>Only admitted paths actuate; only providers publish</a:t>
            </a:r>
            <a:endParaRPr lang="en-US" sz="1400" dirty="0"/>
          </a:p>
        </p:txBody>
      </p:sp>
      <p:sp>
        <p:nvSpPr>
          <p:cNvPr id="26" name="inv chip I7"/>
          <p:cNvSpPr txBox="1"/>
          <p:nvPr/>
        </p:nvSpPr>
        <p:spPr>
          <a:xfrm>
            <a:off x="7315200" y="5513832"/>
            <a:ext cx="50292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I7</a:t>
            </a:r>
            <a:endParaRPr lang="en-US" sz="1200" dirty="0"/>
          </a:p>
        </p:txBody>
      </p:sp>
      <p:sp>
        <p:nvSpPr>
          <p:cNvPr id="27" name="inv text I7"/>
          <p:cNvSpPr txBox="1"/>
          <p:nvPr/>
        </p:nvSpPr>
        <p:spPr>
          <a:xfrm>
            <a:off x="7955280" y="5477256"/>
            <a:ext cx="3685032" cy="384048"/>
          </a:xfrm>
          <a:prstGeom prst="rect">
            <a:avLst/>
          </a:prstGeom>
          <a:noFill/>
          <a:ln/>
        </p:spPr>
        <p:txBody>
          <a:bodyPr wrap="square" lIns="0" tIns="0" rIns="0" bIns="0" rtlCol="0" anchor="ctr"/>
          <a:lstStyle/>
          <a:p>
            <a:pPr indent="0" marL="0">
              <a:buNone/>
            </a:pPr>
            <a:r>
              <a:rPr lang="en-US" sz="1400" dirty="0">
                <a:solidFill>
                  <a:schemeClr val="tx1"/>
                </a:solidFill>
              </a:rPr>
              <a:t>Isolation is a missing import, not a filter</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The system on one page</a:t>
            </a:r>
            <a:endParaRPr lang="en-US" sz="3200" dirty="0"/>
          </a:p>
        </p:txBody>
      </p:sp>
      <p:pic>
        <p:nvPicPr>
          <p:cNvPr id="3" name="system context diagram" descr="system context diagram">    </p:cNvPr>
          <p:cNvPicPr>
            <a:picLocks noChangeAspect="1"/>
          </p:cNvPicPr>
          <p:nvPr/>
        </p:nvPicPr>
        <p:blipFill>
          <a:blip r:embed="rId1"/>
          <a:stretch>
            <a:fillRect/>
          </a:stretch>
        </p:blipFill>
        <p:spPr>
          <a:xfrm>
            <a:off x="548640" y="1596514"/>
            <a:ext cx="11094415" cy="2842011"/>
          </a:xfrm>
          <a:prstGeom prst="rect">
            <a:avLst/>
          </a:prstGeom>
        </p:spPr>
      </p:pic>
      <p:sp>
        <p:nvSpPr>
          <p:cNvPr id="4" name="context point 1 dot"/>
          <p:cNvSpPr/>
          <p:nvPr/>
        </p:nvSpPr>
        <p:spPr>
          <a:xfrm>
            <a:off x="548640" y="5074920"/>
            <a:ext cx="548640" cy="548640"/>
          </a:xfrm>
          <a:prstGeom prst="ellipse">
            <a:avLst/>
          </a:prstGeom>
          <a:solidFill>
            <a:schemeClr val="tx2"/>
          </a:solidFill>
          <a:ln w="12700">
            <a:solidFill>
              <a:schemeClr val="tx2"/>
            </a:solidFill>
            <a:prstDash val="solid"/>
          </a:ln>
        </p:spPr>
      </p:sp>
      <p:pic>
        <p:nvPicPr>
          <p:cNvPr id="5" name="context point 1 icon" descr="preencoded.png">    </p:cNvPr>
          <p:cNvPicPr>
            <a:picLocks noChangeAspect="1"/>
          </p:cNvPicPr>
          <p:nvPr/>
        </p:nvPicPr>
        <p:blipFill>
          <a:blip r:embed="rId2"/>
          <a:stretch>
            <a:fillRect/>
          </a:stretch>
        </p:blipFill>
        <p:spPr>
          <a:xfrm>
            <a:off x="685800" y="5212080"/>
            <a:ext cx="274320" cy="274320"/>
          </a:xfrm>
          <a:prstGeom prst="rect">
            <a:avLst/>
          </a:prstGeom>
        </p:spPr>
      </p:pic>
      <p:sp>
        <p:nvSpPr>
          <p:cNvPr id="6" name="context text 1"/>
          <p:cNvSpPr txBox="1"/>
          <p:nvPr/>
        </p:nvSpPr>
        <p:spPr>
          <a:xfrm>
            <a:off x="1234440" y="507492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Every vehicle call goes through Allow(q)</a:t>
            </a:r>
            <a:endParaRPr lang="en-US" sz="1500" dirty="0"/>
          </a:p>
        </p:txBody>
      </p:sp>
      <p:sp>
        <p:nvSpPr>
          <p:cNvPr id="7" name="context point 2 dot"/>
          <p:cNvSpPr/>
          <p:nvPr/>
        </p:nvSpPr>
        <p:spPr>
          <a:xfrm>
            <a:off x="4297680" y="5074920"/>
            <a:ext cx="548640" cy="548640"/>
          </a:xfrm>
          <a:prstGeom prst="ellipse">
            <a:avLst/>
          </a:prstGeom>
          <a:solidFill>
            <a:schemeClr val="tx2"/>
          </a:solidFill>
          <a:ln w="12700">
            <a:solidFill>
              <a:schemeClr val="tx2"/>
            </a:solidFill>
            <a:prstDash val="solid"/>
          </a:ln>
        </p:spPr>
      </p:sp>
      <p:pic>
        <p:nvPicPr>
          <p:cNvPr id="8" name="context point 2 icon" descr="preencoded.png">    </p:cNvPr>
          <p:cNvPicPr>
            <a:picLocks noChangeAspect="1"/>
          </p:cNvPicPr>
          <p:nvPr/>
        </p:nvPicPr>
        <p:blipFill>
          <a:blip r:embed="rId3"/>
          <a:stretch>
            <a:fillRect/>
          </a:stretch>
        </p:blipFill>
        <p:spPr>
          <a:xfrm>
            <a:off x="4434840" y="5212080"/>
            <a:ext cx="274320" cy="274320"/>
          </a:xfrm>
          <a:prstGeom prst="rect">
            <a:avLst/>
          </a:prstGeom>
        </p:spPr>
      </p:pic>
      <p:sp>
        <p:nvSpPr>
          <p:cNvPr id="9" name="context text 2"/>
          <p:cNvSpPr txBox="1"/>
          <p:nvPr/>
        </p:nvSpPr>
        <p:spPr>
          <a:xfrm>
            <a:off x="4983480" y="507492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Every decision, refusals included, is journalled</a:t>
            </a:r>
            <a:endParaRPr lang="en-US" sz="1500" dirty="0"/>
          </a:p>
        </p:txBody>
      </p:sp>
      <p:sp>
        <p:nvSpPr>
          <p:cNvPr id="10" name="context point 3 dot"/>
          <p:cNvSpPr/>
          <p:nvPr/>
        </p:nvSpPr>
        <p:spPr>
          <a:xfrm>
            <a:off x="8046720" y="5074920"/>
            <a:ext cx="548640" cy="548640"/>
          </a:xfrm>
          <a:prstGeom prst="ellipse">
            <a:avLst/>
          </a:prstGeom>
          <a:solidFill>
            <a:schemeClr val="tx2"/>
          </a:solidFill>
          <a:ln w="12700">
            <a:solidFill>
              <a:schemeClr val="tx2"/>
            </a:solidFill>
            <a:prstDash val="solid"/>
          </a:ln>
        </p:spPr>
      </p:sp>
      <p:pic>
        <p:nvPicPr>
          <p:cNvPr id="11" name="context point 3 icon" descr="preencoded.png">    </p:cNvPr>
          <p:cNvPicPr>
            <a:picLocks noChangeAspect="1"/>
          </p:cNvPicPr>
          <p:nvPr/>
        </p:nvPicPr>
        <p:blipFill>
          <a:blip r:embed="rId4"/>
          <a:stretch>
            <a:fillRect/>
          </a:stretch>
        </p:blipFill>
        <p:spPr>
          <a:xfrm>
            <a:off x="8183880" y="5212080"/>
            <a:ext cx="274320" cy="274320"/>
          </a:xfrm>
          <a:prstGeom prst="rect">
            <a:avLst/>
          </a:prstGeom>
        </p:spPr>
      </p:pic>
      <p:sp>
        <p:nvSpPr>
          <p:cNvPr id="12" name="context text 3"/>
          <p:cNvSpPr txBox="1"/>
          <p:nvPr/>
        </p:nvSpPr>
        <p:spPr>
          <a:xfrm>
            <a:off x="8732520" y="507492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No cloud: two boards in the car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Two boards in the car, no cloud</a:t>
            </a:r>
            <a:endParaRPr lang="en-US" sz="3200" dirty="0"/>
          </a:p>
        </p:txBody>
      </p:sp>
      <p:pic>
        <p:nvPicPr>
          <p:cNvPr id="3" name="deployment diagram" descr="deployment diagram">    </p:cNvPr>
          <p:cNvPicPr>
            <a:picLocks noChangeAspect="1"/>
          </p:cNvPicPr>
          <p:nvPr/>
        </p:nvPicPr>
        <p:blipFill>
          <a:blip r:embed="rId1"/>
          <a:stretch>
            <a:fillRect/>
          </a:stretch>
        </p:blipFill>
        <p:spPr>
          <a:xfrm>
            <a:off x="548640" y="1354210"/>
            <a:ext cx="11094415" cy="2686540"/>
          </a:xfrm>
          <a:prstGeom prst="rect">
            <a:avLst/>
          </a:prstGeom>
        </p:spPr>
      </p:pic>
      <p:sp>
        <p:nvSpPr>
          <p:cNvPr id="4" name="node card 1"/>
          <p:cNvSpPr/>
          <p:nvPr/>
        </p:nvSpPr>
        <p:spPr>
          <a:xfrm>
            <a:off x="548640" y="4343400"/>
            <a:ext cx="3566160" cy="1783080"/>
          </a:xfrm>
          <a:prstGeom prst="roundRect">
            <a:avLst>
              <a:gd name="adj" fmla="val 4103"/>
            </a:avLst>
          </a:prstGeom>
          <a:solidFill>
            <a:schemeClr val="bg2"/>
          </a:solidFill>
          <a:ln w="12700">
            <a:solidFill>
              <a:schemeClr val="bg2"/>
            </a:solidFill>
            <a:prstDash val="solid"/>
          </a:ln>
        </p:spPr>
      </p:sp>
      <p:sp>
        <p:nvSpPr>
          <p:cNvPr id="5" name="node title 1"/>
          <p:cNvSpPr txBox="1"/>
          <p:nvPr/>
        </p:nvSpPr>
        <p:spPr>
          <a:xfrm>
            <a:off x="777240" y="4480560"/>
            <a:ext cx="3108960" cy="365760"/>
          </a:xfrm>
          <a:prstGeom prst="rect">
            <a:avLst/>
          </a:prstGeom>
          <a:noFill/>
          <a:ln/>
        </p:spPr>
        <p:txBody>
          <a:bodyPr wrap="square" lIns="0" tIns="0" rIns="0" bIns="0" rtlCol="0" anchor="ctr"/>
          <a:lstStyle/>
          <a:p>
            <a:pPr indent="0" marL="0">
              <a:buNone/>
            </a:pPr>
            <a:r>
              <a:rPr lang="en-US" sz="1700" b="1" dirty="0">
                <a:solidFill>
                  <a:schemeClr val="tx2"/>
                </a:solidFill>
              </a:rPr>
              <a:t>Jetson Orin Nano Super</a:t>
            </a:r>
            <a:endParaRPr lang="en-US" sz="1700" dirty="0"/>
          </a:p>
        </p:txBody>
      </p:sp>
      <p:sp>
        <p:nvSpPr>
          <p:cNvPr id="6" name="node body 1"/>
          <p:cNvSpPr txBox="1"/>
          <p:nvPr/>
        </p:nvSpPr>
        <p:spPr>
          <a:xfrm>
            <a:off x="777240" y="4892040"/>
            <a:ext cx="3108960" cy="1143000"/>
          </a:xfrm>
          <a:prstGeom prst="rect">
            <a:avLst/>
          </a:prstGeom>
          <a:noFill/>
          <a:ln/>
        </p:spPr>
        <p:txBody>
          <a:bodyPr wrap="square" lIns="0" tIns="0" rIns="0" bIns="0" rtlCol="0" anchor="t"/>
          <a:lstStyle/>
          <a:p>
            <a:pPr indent="0" marL="0">
              <a:buNone/>
            </a:pPr>
            <a:r>
              <a:rPr lang="en-US" sz="1400" dirty="0">
                <a:solidFill>
                  <a:schemeClr val="tx1"/>
                </a:solidFill>
              </a:rPr>
              <a:t>Vehicle agent, Allow(q) and journal · fast-route classifier · voice · driver monitoring · road view</a:t>
            </a:r>
            <a:endParaRPr lang="en-US" sz="1400" dirty="0"/>
          </a:p>
        </p:txBody>
      </p:sp>
      <p:sp>
        <p:nvSpPr>
          <p:cNvPr id="7" name="node card 2"/>
          <p:cNvSpPr/>
          <p:nvPr/>
        </p:nvSpPr>
        <p:spPr>
          <a:xfrm>
            <a:off x="4297680" y="4343400"/>
            <a:ext cx="3566160" cy="1783080"/>
          </a:xfrm>
          <a:prstGeom prst="roundRect">
            <a:avLst>
              <a:gd name="adj" fmla="val 4103"/>
            </a:avLst>
          </a:prstGeom>
          <a:solidFill>
            <a:schemeClr val="bg2"/>
          </a:solidFill>
          <a:ln w="12700">
            <a:solidFill>
              <a:schemeClr val="bg2"/>
            </a:solidFill>
            <a:prstDash val="solid"/>
          </a:ln>
        </p:spPr>
      </p:sp>
      <p:sp>
        <p:nvSpPr>
          <p:cNvPr id="8" name="node title 2"/>
          <p:cNvSpPr txBox="1"/>
          <p:nvPr/>
        </p:nvSpPr>
        <p:spPr>
          <a:xfrm>
            <a:off x="4526280" y="4480560"/>
            <a:ext cx="3108960" cy="365760"/>
          </a:xfrm>
          <a:prstGeom prst="rect">
            <a:avLst/>
          </a:prstGeom>
          <a:noFill/>
          <a:ln/>
        </p:spPr>
        <p:txBody>
          <a:bodyPr wrap="square" lIns="0" tIns="0" rIns="0" bIns="0" rtlCol="0" anchor="ctr"/>
          <a:lstStyle/>
          <a:p>
            <a:pPr indent="0" marL="0">
              <a:buNone/>
            </a:pPr>
            <a:r>
              <a:rPr lang="en-US" sz="1700" b="1" dirty="0">
                <a:solidFill>
                  <a:schemeClr val="tx2"/>
                </a:solidFill>
              </a:rPr>
              <a:t>Raspberry Pi 5</a:t>
            </a:r>
            <a:endParaRPr lang="en-US" sz="1700" dirty="0"/>
          </a:p>
        </p:txBody>
      </p:sp>
      <p:sp>
        <p:nvSpPr>
          <p:cNvPr id="9" name="node body 2"/>
          <p:cNvSpPr txBox="1"/>
          <p:nvPr/>
        </p:nvSpPr>
        <p:spPr>
          <a:xfrm>
            <a:off x="4526280" y="4892040"/>
            <a:ext cx="3108960" cy="1143000"/>
          </a:xfrm>
          <a:prstGeom prst="rect">
            <a:avLst/>
          </a:prstGeom>
          <a:noFill/>
          <a:ln/>
        </p:spPr>
        <p:txBody>
          <a:bodyPr wrap="square" lIns="0" tIns="0" rIns="0" bIns="0" rtlCol="0" anchor="t"/>
          <a:lstStyle/>
          <a:p>
            <a:pPr indent="0" marL="0">
              <a:buNone/>
            </a:pPr>
            <a:r>
              <a:rPr lang="en-US" sz="1400" dirty="0">
                <a:solidFill>
                  <a:schemeClr val="tx1"/>
                </a:solidFill>
              </a:rPr>
              <a:t>MHS · SOVD + MCP server · KUKSA · CAN · cabin display · car audio · dash cam gateway</a:t>
            </a:r>
            <a:endParaRPr lang="en-US" sz="1400" dirty="0"/>
          </a:p>
        </p:txBody>
      </p:sp>
      <p:sp>
        <p:nvSpPr>
          <p:cNvPr id="10" name="node card 3"/>
          <p:cNvSpPr/>
          <p:nvPr/>
        </p:nvSpPr>
        <p:spPr>
          <a:xfrm>
            <a:off x="8046720" y="4343400"/>
            <a:ext cx="3566160" cy="1783080"/>
          </a:xfrm>
          <a:prstGeom prst="roundRect">
            <a:avLst>
              <a:gd name="adj" fmla="val 4103"/>
            </a:avLst>
          </a:prstGeom>
          <a:solidFill>
            <a:schemeClr val="bg2"/>
          </a:solidFill>
          <a:ln w="12700">
            <a:solidFill>
              <a:schemeClr val="bg2"/>
            </a:solidFill>
            <a:prstDash val="solid"/>
          </a:ln>
        </p:spPr>
      </p:sp>
      <p:sp>
        <p:nvSpPr>
          <p:cNvPr id="11" name="node title 3"/>
          <p:cNvSpPr txBox="1"/>
          <p:nvPr/>
        </p:nvSpPr>
        <p:spPr>
          <a:xfrm>
            <a:off x="8275320" y="4480560"/>
            <a:ext cx="3108960" cy="365760"/>
          </a:xfrm>
          <a:prstGeom prst="rect">
            <a:avLst/>
          </a:prstGeom>
          <a:noFill/>
          <a:ln/>
        </p:spPr>
        <p:txBody>
          <a:bodyPr wrap="square" lIns="0" tIns="0" rIns="0" bIns="0" rtlCol="0" anchor="ctr"/>
          <a:lstStyle/>
          <a:p>
            <a:pPr indent="0" marL="0">
              <a:buNone/>
            </a:pPr>
            <a:r>
              <a:rPr lang="en-US" sz="1700" b="1" dirty="0">
                <a:solidFill>
                  <a:schemeClr val="tx2"/>
                </a:solidFill>
              </a:rPr>
              <a:t>In the car</a:t>
            </a:r>
            <a:endParaRPr lang="en-US" sz="1700" dirty="0"/>
          </a:p>
        </p:txBody>
      </p:sp>
      <p:sp>
        <p:nvSpPr>
          <p:cNvPr id="12" name="node body 3"/>
          <p:cNvSpPr txBox="1"/>
          <p:nvPr/>
        </p:nvSpPr>
        <p:spPr>
          <a:xfrm>
            <a:off x="8275320" y="4892040"/>
            <a:ext cx="3108960" cy="1143000"/>
          </a:xfrm>
          <a:prstGeom prst="rect">
            <a:avLst/>
          </a:prstGeom>
          <a:noFill/>
          <a:ln/>
        </p:spPr>
        <p:txBody>
          <a:bodyPr wrap="square" lIns="0" tIns="0" rIns="0" bIns="0" rtlCol="0" anchor="t"/>
          <a:lstStyle/>
          <a:p>
            <a:pPr indent="0" marL="0">
              <a:buNone/>
            </a:pPr>
            <a:r>
              <a:rPr lang="en-US" sz="1400" dirty="0">
                <a:solidFill>
                  <a:schemeClr val="tx1"/>
                </a:solidFill>
              </a:rPr>
              <a:t>Dash cam · driver webcam + mic · GNSS · bench panel · the car's own speakers over Bluetooth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MHS: every hardware fact is checked data</a:t>
            </a:r>
            <a:endParaRPr lang="en-US" sz="3200" dirty="0"/>
          </a:p>
        </p:txBody>
      </p:sp>
      <p:pic>
        <p:nvPicPr>
          <p:cNvPr id="3" name="MHS four questions diagram" descr="MHS four questions diagram">    </p:cNvPr>
          <p:cNvPicPr>
            <a:picLocks noChangeAspect="1"/>
          </p:cNvPicPr>
          <p:nvPr/>
        </p:nvPicPr>
        <p:blipFill>
          <a:blip r:embed="rId1"/>
          <a:stretch>
            <a:fillRect/>
          </a:stretch>
        </p:blipFill>
        <p:spPr>
          <a:xfrm>
            <a:off x="548640" y="1369815"/>
            <a:ext cx="11094415" cy="1878090"/>
          </a:xfrm>
          <a:prstGeom prst="rect">
            <a:avLst/>
          </a:prstGeom>
        </p:spPr>
      </p:pic>
      <p:sp>
        <p:nvSpPr>
          <p:cNvPr id="4" name="mhs card 1"/>
          <p:cNvSpPr/>
          <p:nvPr/>
        </p:nvSpPr>
        <p:spPr>
          <a:xfrm>
            <a:off x="548640" y="3566160"/>
            <a:ext cx="2633472" cy="2606040"/>
          </a:xfrm>
          <a:prstGeom prst="roundRect">
            <a:avLst>
              <a:gd name="adj" fmla="val 2807"/>
            </a:avLst>
          </a:prstGeom>
          <a:solidFill>
            <a:schemeClr val="bg2"/>
          </a:solidFill>
          <a:ln w="12700">
            <a:solidFill>
              <a:schemeClr val="bg2"/>
            </a:solidFill>
            <a:prstDash val="solid"/>
          </a:ln>
        </p:spPr>
      </p:sp>
      <p:sp>
        <p:nvSpPr>
          <p:cNvPr id="5" name="mhs card 1 dot"/>
          <p:cNvSpPr/>
          <p:nvPr/>
        </p:nvSpPr>
        <p:spPr>
          <a:xfrm>
            <a:off x="749808" y="3730752"/>
            <a:ext cx="502920" cy="502920"/>
          </a:xfrm>
          <a:prstGeom prst="ellipse">
            <a:avLst/>
          </a:prstGeom>
          <a:solidFill>
            <a:schemeClr val="tx2"/>
          </a:solidFill>
          <a:ln w="12700">
            <a:solidFill>
              <a:schemeClr val="tx2"/>
            </a:solidFill>
            <a:prstDash val="solid"/>
          </a:ln>
        </p:spPr>
      </p:sp>
      <p:pic>
        <p:nvPicPr>
          <p:cNvPr id="6" name="mhs card 1 icon" descr="preencoded.png">    </p:cNvPr>
          <p:cNvPicPr>
            <a:picLocks noChangeAspect="1"/>
          </p:cNvPicPr>
          <p:nvPr/>
        </p:nvPicPr>
        <p:blipFill>
          <a:blip r:embed="rId2"/>
          <a:stretch>
            <a:fillRect/>
          </a:stretch>
        </p:blipFill>
        <p:spPr>
          <a:xfrm>
            <a:off x="875538" y="3856482"/>
            <a:ext cx="251460" cy="251460"/>
          </a:xfrm>
          <a:prstGeom prst="rect">
            <a:avLst/>
          </a:prstGeom>
        </p:spPr>
      </p:pic>
      <p:sp>
        <p:nvSpPr>
          <p:cNvPr id="7" name="mhs card title 1"/>
          <p:cNvSpPr txBox="1"/>
          <p:nvPr/>
        </p:nvSpPr>
        <p:spPr>
          <a:xfrm>
            <a:off x="749808" y="434340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Registry as data</a:t>
            </a:r>
            <a:endParaRPr lang="en-US" sz="1600" dirty="0"/>
          </a:p>
        </p:txBody>
      </p:sp>
      <p:sp>
        <p:nvSpPr>
          <p:cNvPr id="8" name="mhs card body 1"/>
          <p:cNvSpPr txBox="1"/>
          <p:nvPr/>
        </p:nvSpPr>
        <p:spPr>
          <a:xfrm>
            <a:off x="749808" y="4754880"/>
            <a:ext cx="2240280" cy="1325880"/>
          </a:xfrm>
          <a:prstGeom prst="rect">
            <a:avLst/>
          </a:prstGeom>
          <a:noFill/>
          <a:ln/>
        </p:spPr>
        <p:txBody>
          <a:bodyPr wrap="square" lIns="0" tIns="0" rIns="0" bIns="0" rtlCol="0" anchor="t"/>
          <a:lstStyle/>
          <a:p>
            <a:pPr indent="0" marL="0">
              <a:buNone/>
            </a:pPr>
            <a:r>
              <a:rPr lang="en-US" sz="1300" dirty="0">
                <a:solidFill>
                  <a:schemeClr val="tx1"/>
                </a:solidFill>
              </a:rPr>
              <a:t>Interfaces, capabilities, bindings, interlocks, lenses, controllers. Generated, checked, never hand-edited.</a:t>
            </a:r>
            <a:endParaRPr lang="en-US" sz="1300" dirty="0"/>
          </a:p>
        </p:txBody>
      </p:sp>
      <p:sp>
        <p:nvSpPr>
          <p:cNvPr id="9" name="mhs card 2"/>
          <p:cNvSpPr/>
          <p:nvPr/>
        </p:nvSpPr>
        <p:spPr>
          <a:xfrm>
            <a:off x="3367735" y="3566160"/>
            <a:ext cx="2633472" cy="2606040"/>
          </a:xfrm>
          <a:prstGeom prst="roundRect">
            <a:avLst>
              <a:gd name="adj" fmla="val 2807"/>
            </a:avLst>
          </a:prstGeom>
          <a:solidFill>
            <a:schemeClr val="bg2"/>
          </a:solidFill>
          <a:ln w="12700">
            <a:solidFill>
              <a:schemeClr val="bg2"/>
            </a:solidFill>
            <a:prstDash val="solid"/>
          </a:ln>
        </p:spPr>
      </p:sp>
      <p:sp>
        <p:nvSpPr>
          <p:cNvPr id="10" name="mhs card 2 dot"/>
          <p:cNvSpPr/>
          <p:nvPr/>
        </p:nvSpPr>
        <p:spPr>
          <a:xfrm>
            <a:off x="3568903" y="3730752"/>
            <a:ext cx="502920" cy="502920"/>
          </a:xfrm>
          <a:prstGeom prst="ellipse">
            <a:avLst/>
          </a:prstGeom>
          <a:solidFill>
            <a:schemeClr val="tx2"/>
          </a:solidFill>
          <a:ln w="12700">
            <a:solidFill>
              <a:schemeClr val="tx2"/>
            </a:solidFill>
            <a:prstDash val="solid"/>
          </a:ln>
        </p:spPr>
      </p:sp>
      <p:pic>
        <p:nvPicPr>
          <p:cNvPr id="11" name="mhs card 2 icon" descr="preencoded.png">    </p:cNvPr>
          <p:cNvPicPr>
            <a:picLocks noChangeAspect="1"/>
          </p:cNvPicPr>
          <p:nvPr/>
        </p:nvPicPr>
        <p:blipFill>
          <a:blip r:embed="rId3"/>
          <a:stretch>
            <a:fillRect/>
          </a:stretch>
        </p:blipFill>
        <p:spPr>
          <a:xfrm>
            <a:off x="3694633" y="3856482"/>
            <a:ext cx="251460" cy="251460"/>
          </a:xfrm>
          <a:prstGeom prst="rect">
            <a:avLst/>
          </a:prstGeom>
        </p:spPr>
      </p:pic>
      <p:sp>
        <p:nvSpPr>
          <p:cNvPr id="12" name="mhs card title 2"/>
          <p:cNvSpPr txBox="1"/>
          <p:nvPr/>
        </p:nvSpPr>
        <p:spPr>
          <a:xfrm>
            <a:off x="3568903" y="434340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Pinned by digest</a:t>
            </a:r>
            <a:endParaRPr lang="en-US" sz="1600" dirty="0"/>
          </a:p>
        </p:txBody>
      </p:sp>
      <p:sp>
        <p:nvSpPr>
          <p:cNvPr id="13" name="mhs card body 2"/>
          <p:cNvSpPr txBox="1"/>
          <p:nvPr/>
        </p:nvSpPr>
        <p:spPr>
          <a:xfrm>
            <a:off x="3568903" y="4754880"/>
            <a:ext cx="2240280" cy="1325880"/>
          </a:xfrm>
          <a:prstGeom prst="rect">
            <a:avLst/>
          </a:prstGeom>
          <a:noFill/>
          <a:ln/>
        </p:spPr>
        <p:txBody>
          <a:bodyPr wrap="square" lIns="0" tIns="0" rIns="0" bIns="0" rtlCol="0" anchor="t"/>
          <a:lstStyle/>
          <a:p>
            <a:pPr indent="0" marL="0">
              <a:buNone/>
            </a:pPr>
            <a:r>
              <a:rPr lang="en-US" sz="1300" dirty="0">
                <a:solidFill>
                  <a:schemeClr val="tx1"/>
                </a:solidFill>
              </a:rPr>
              <a:t>Nodes import each other pinned by digest. A mismatch answers REGISTRY_CHANGED, not a guess.</a:t>
            </a:r>
            <a:endParaRPr lang="en-US" sz="1300" dirty="0"/>
          </a:p>
        </p:txBody>
      </p:sp>
      <p:sp>
        <p:nvSpPr>
          <p:cNvPr id="14" name="mhs card 3"/>
          <p:cNvSpPr/>
          <p:nvPr/>
        </p:nvSpPr>
        <p:spPr>
          <a:xfrm>
            <a:off x="6186830" y="3566160"/>
            <a:ext cx="2633472" cy="2606040"/>
          </a:xfrm>
          <a:prstGeom prst="roundRect">
            <a:avLst>
              <a:gd name="adj" fmla="val 2807"/>
            </a:avLst>
          </a:prstGeom>
          <a:solidFill>
            <a:schemeClr val="bg2"/>
          </a:solidFill>
          <a:ln w="12700">
            <a:solidFill>
              <a:schemeClr val="bg2"/>
            </a:solidFill>
            <a:prstDash val="solid"/>
          </a:ln>
        </p:spPr>
      </p:sp>
      <p:sp>
        <p:nvSpPr>
          <p:cNvPr id="15" name="mhs card 3 dot"/>
          <p:cNvSpPr/>
          <p:nvPr/>
        </p:nvSpPr>
        <p:spPr>
          <a:xfrm>
            <a:off x="6387998" y="3730752"/>
            <a:ext cx="502920" cy="502920"/>
          </a:xfrm>
          <a:prstGeom prst="ellipse">
            <a:avLst/>
          </a:prstGeom>
          <a:solidFill>
            <a:schemeClr val="tx2"/>
          </a:solidFill>
          <a:ln w="12700">
            <a:solidFill>
              <a:schemeClr val="tx2"/>
            </a:solidFill>
            <a:prstDash val="solid"/>
          </a:ln>
        </p:spPr>
      </p:sp>
      <p:pic>
        <p:nvPicPr>
          <p:cNvPr id="16" name="mhs card 3 icon" descr="preencoded.png">    </p:cNvPr>
          <p:cNvPicPr>
            <a:picLocks noChangeAspect="1"/>
          </p:cNvPicPr>
          <p:nvPr/>
        </p:nvPicPr>
        <p:blipFill>
          <a:blip r:embed="rId4"/>
          <a:stretch>
            <a:fillRect/>
          </a:stretch>
        </p:blipFill>
        <p:spPr>
          <a:xfrm>
            <a:off x="6513728" y="3856482"/>
            <a:ext cx="251460" cy="251460"/>
          </a:xfrm>
          <a:prstGeom prst="rect">
            <a:avLst/>
          </a:prstGeom>
        </p:spPr>
      </p:pic>
      <p:sp>
        <p:nvSpPr>
          <p:cNvPr id="17" name="mhs card title 3"/>
          <p:cNvSpPr txBox="1"/>
          <p:nvPr/>
        </p:nvSpPr>
        <p:spPr>
          <a:xfrm>
            <a:off x="6387998" y="434340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Honest fallback</a:t>
            </a:r>
            <a:endParaRPr lang="en-US" sz="1600" dirty="0"/>
          </a:p>
        </p:txBody>
      </p:sp>
      <p:sp>
        <p:nvSpPr>
          <p:cNvPr id="18" name="mhs card body 3"/>
          <p:cNvSpPr txBox="1"/>
          <p:nvPr/>
        </p:nvSpPr>
        <p:spPr>
          <a:xfrm>
            <a:off x="6387998" y="4754880"/>
            <a:ext cx="2240280" cy="1325880"/>
          </a:xfrm>
          <a:prstGeom prst="rect">
            <a:avLst/>
          </a:prstGeom>
          <a:noFill/>
          <a:ln/>
        </p:spPr>
        <p:txBody>
          <a:bodyPr wrap="square" lIns="0" tIns="0" rIns="0" bIns="0" rtlCol="0" anchor="t"/>
          <a:lstStyle/>
          <a:p>
            <a:pPr indent="0" marL="0">
              <a:buNone/>
            </a:pPr>
            <a:r>
              <a:rPr lang="en-US" sz="1300" dirty="0">
                <a:solidFill>
                  <a:schemeClr val="tx1"/>
                </a:solidFill>
              </a:rPr>
              <a:t>A read falls back only to the same quantity, as fresh or fresher. Writes never fall back.</a:t>
            </a:r>
            <a:endParaRPr lang="en-US" sz="1300" dirty="0"/>
          </a:p>
        </p:txBody>
      </p:sp>
      <p:sp>
        <p:nvSpPr>
          <p:cNvPr id="19" name="mhs card 4"/>
          <p:cNvSpPr/>
          <p:nvPr/>
        </p:nvSpPr>
        <p:spPr>
          <a:xfrm>
            <a:off x="9005926" y="3566160"/>
            <a:ext cx="2633472" cy="2606040"/>
          </a:xfrm>
          <a:prstGeom prst="roundRect">
            <a:avLst>
              <a:gd name="adj" fmla="val 2807"/>
            </a:avLst>
          </a:prstGeom>
          <a:solidFill>
            <a:schemeClr val="bg2"/>
          </a:solidFill>
          <a:ln w="12700">
            <a:solidFill>
              <a:schemeClr val="bg2"/>
            </a:solidFill>
            <a:prstDash val="solid"/>
          </a:ln>
        </p:spPr>
      </p:sp>
      <p:sp>
        <p:nvSpPr>
          <p:cNvPr id="20" name="mhs card 4 dot"/>
          <p:cNvSpPr/>
          <p:nvPr/>
        </p:nvSpPr>
        <p:spPr>
          <a:xfrm>
            <a:off x="9207094" y="3730752"/>
            <a:ext cx="502920" cy="502920"/>
          </a:xfrm>
          <a:prstGeom prst="ellipse">
            <a:avLst/>
          </a:prstGeom>
          <a:solidFill>
            <a:schemeClr val="tx2"/>
          </a:solidFill>
          <a:ln w="12700">
            <a:solidFill>
              <a:schemeClr val="tx2"/>
            </a:solidFill>
            <a:prstDash val="solid"/>
          </a:ln>
        </p:spPr>
      </p:sp>
      <p:pic>
        <p:nvPicPr>
          <p:cNvPr id="21" name="mhs card 4 icon" descr="preencoded.png">    </p:cNvPr>
          <p:cNvPicPr>
            <a:picLocks noChangeAspect="1"/>
          </p:cNvPicPr>
          <p:nvPr/>
        </p:nvPicPr>
        <p:blipFill>
          <a:blip r:embed="rId5"/>
          <a:stretch>
            <a:fillRect/>
          </a:stretch>
        </p:blipFill>
        <p:spPr>
          <a:xfrm>
            <a:off x="9332824" y="3856482"/>
            <a:ext cx="251460" cy="251460"/>
          </a:xfrm>
          <a:prstGeom prst="rect">
            <a:avLst/>
          </a:prstGeom>
        </p:spPr>
      </p:pic>
      <p:sp>
        <p:nvSpPr>
          <p:cNvPr id="22" name="mhs card title 4"/>
          <p:cNvSpPr txBox="1"/>
          <p:nvPr/>
        </p:nvSpPr>
        <p:spPr>
          <a:xfrm>
            <a:off x="9207094" y="434340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Generic core</a:t>
            </a:r>
            <a:endParaRPr lang="en-US" sz="1600" dirty="0"/>
          </a:p>
        </p:txBody>
      </p:sp>
      <p:sp>
        <p:nvSpPr>
          <p:cNvPr id="23" name="mhs card body 4"/>
          <p:cNvSpPr txBox="1"/>
          <p:nvPr/>
        </p:nvSpPr>
        <p:spPr>
          <a:xfrm>
            <a:off x="9207094" y="4754880"/>
            <a:ext cx="2240280" cy="1325880"/>
          </a:xfrm>
          <a:prstGeom prst="rect">
            <a:avLst/>
          </a:prstGeom>
          <a:noFill/>
          <a:ln/>
        </p:spPr>
        <p:txBody>
          <a:bodyPr wrap="square" lIns="0" tIns="0" rIns="0" bIns="0" rtlCol="0" anchor="t"/>
          <a:lstStyle/>
          <a:p>
            <a:pPr indent="0" marL="0">
              <a:buNone/>
            </a:pPr>
            <a:r>
              <a:rPr lang="en-US" sz="1300" dirty="0">
                <a:solidFill>
                  <a:schemeClr val="tx1"/>
                </a:solidFill>
              </a:rPr>
              <a:t>The core knows no vehicle, board or pin. A test fails if one appears in its logic.</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MHS decides no authority: two locks, one core</a:t>
            </a:r>
            <a:endParaRPr lang="en-US" sz="3200" dirty="0"/>
          </a:p>
        </p:txBody>
      </p:sp>
      <p:sp>
        <p:nvSpPr>
          <p:cNvPr id="3" name="lock step Gate"/>
          <p:cNvSpPr/>
          <p:nvPr/>
        </p:nvSpPr>
        <p:spPr>
          <a:xfrm>
            <a:off x="548640" y="1371600"/>
            <a:ext cx="2011680" cy="1325880"/>
          </a:xfrm>
          <a:prstGeom prst="roundRect">
            <a:avLst>
              <a:gd name="adj" fmla="val 5517"/>
            </a:avLst>
          </a:prstGeom>
          <a:solidFill>
            <a:schemeClr val="accent2"/>
          </a:solidFill>
          <a:ln w="12700">
            <a:solidFill>
              <a:schemeClr val="accent2"/>
            </a:solidFill>
            <a:prstDash val="solid"/>
          </a:ln>
        </p:spPr>
      </p:sp>
      <p:sp>
        <p:nvSpPr>
          <p:cNvPr id="4" name="lock step title Gate"/>
          <p:cNvSpPr txBox="1"/>
          <p:nvPr/>
        </p:nvSpPr>
        <p:spPr>
          <a:xfrm>
            <a:off x="685800" y="1463040"/>
            <a:ext cx="1737360" cy="365760"/>
          </a:xfrm>
          <a:prstGeom prst="rect">
            <a:avLst/>
          </a:prstGeom>
          <a:noFill/>
          <a:ln/>
        </p:spPr>
        <p:txBody>
          <a:bodyPr wrap="square" lIns="0" tIns="0" rIns="0" bIns="0" rtlCol="0" anchor="ctr"/>
          <a:lstStyle/>
          <a:p>
            <a:pPr indent="0" marL="0">
              <a:buNone/>
            </a:pPr>
            <a:r>
              <a:rPr lang="en-US" sz="1700" b="1" dirty="0">
                <a:solidFill>
                  <a:schemeClr val="bg1"/>
                </a:solidFill>
              </a:rPr>
              <a:t>Gate</a:t>
            </a:r>
            <a:endParaRPr lang="en-US" sz="1700" dirty="0"/>
          </a:p>
        </p:txBody>
      </p:sp>
      <p:sp>
        <p:nvSpPr>
          <p:cNvPr id="5" name="lock step body Gate"/>
          <p:cNvSpPr txBox="1"/>
          <p:nvPr/>
        </p:nvSpPr>
        <p:spPr>
          <a:xfrm>
            <a:off x="685800" y="1828800"/>
            <a:ext cx="1737360" cy="777240"/>
          </a:xfrm>
          <a:prstGeom prst="rect">
            <a:avLst/>
          </a:prstGeom>
          <a:noFill/>
          <a:ln/>
        </p:spPr>
        <p:txBody>
          <a:bodyPr wrap="square" lIns="0" tIns="0" rIns="0" bIns="0" rtlCol="0" anchor="t"/>
          <a:lstStyle/>
          <a:p>
            <a:pPr indent="0" marL="0">
              <a:buNone/>
            </a:pPr>
            <a:r>
              <a:rPr lang="en-US" sz="1300" dirty="0">
                <a:solidFill>
                  <a:schemeClr val="bg1"/>
                </a:solidFill>
              </a:rPr>
              <a:t>mints an admission for this exact request</a:t>
            </a:r>
            <a:endParaRPr lang="en-US" sz="1300" dirty="0"/>
          </a:p>
        </p:txBody>
      </p:sp>
      <p:sp>
        <p:nvSpPr>
          <p:cNvPr id="6" name="lock arrow 0"/>
          <p:cNvSpPr/>
          <p:nvPr/>
        </p:nvSpPr>
        <p:spPr>
          <a:xfrm>
            <a:off x="2578608" y="1892808"/>
            <a:ext cx="222428" cy="274320"/>
          </a:xfrm>
          <a:prstGeom prst="rightArrow">
            <a:avLst/>
          </a:prstGeom>
          <a:solidFill>
            <a:schemeClr val="accent5"/>
          </a:solidFill>
          <a:ln w="12700">
            <a:solidFill>
              <a:schemeClr val="accent5"/>
            </a:solidFill>
            <a:prstDash val="solid"/>
          </a:ln>
        </p:spPr>
      </p:sp>
      <p:sp>
        <p:nvSpPr>
          <p:cNvPr id="7" name="lock step MHS"/>
          <p:cNvSpPr/>
          <p:nvPr/>
        </p:nvSpPr>
        <p:spPr>
          <a:xfrm>
            <a:off x="2819324" y="1371600"/>
            <a:ext cx="2011680" cy="1325880"/>
          </a:xfrm>
          <a:prstGeom prst="roundRect">
            <a:avLst>
              <a:gd name="adj" fmla="val 5517"/>
            </a:avLst>
          </a:prstGeom>
          <a:solidFill>
            <a:schemeClr val="tx2"/>
          </a:solidFill>
          <a:ln w="12700">
            <a:solidFill>
              <a:schemeClr val="tx2"/>
            </a:solidFill>
            <a:prstDash val="solid"/>
          </a:ln>
        </p:spPr>
      </p:sp>
      <p:sp>
        <p:nvSpPr>
          <p:cNvPr id="8" name="lock step title MHS"/>
          <p:cNvSpPr txBox="1"/>
          <p:nvPr/>
        </p:nvSpPr>
        <p:spPr>
          <a:xfrm>
            <a:off x="2956484" y="1463040"/>
            <a:ext cx="1737360" cy="365760"/>
          </a:xfrm>
          <a:prstGeom prst="rect">
            <a:avLst/>
          </a:prstGeom>
          <a:noFill/>
          <a:ln/>
        </p:spPr>
        <p:txBody>
          <a:bodyPr wrap="square" lIns="0" tIns="0" rIns="0" bIns="0" rtlCol="0" anchor="ctr"/>
          <a:lstStyle/>
          <a:p>
            <a:pPr indent="0" marL="0">
              <a:buNone/>
            </a:pPr>
            <a:r>
              <a:rPr lang="en-US" sz="1700" b="1" dirty="0">
                <a:solidFill>
                  <a:schemeClr val="bg1"/>
                </a:solidFill>
              </a:rPr>
              <a:t>MHS</a:t>
            </a:r>
            <a:endParaRPr lang="en-US" sz="1700" dirty="0"/>
          </a:p>
        </p:txBody>
      </p:sp>
      <p:sp>
        <p:nvSpPr>
          <p:cNvPr id="9" name="lock step body MHS"/>
          <p:cNvSpPr txBox="1"/>
          <p:nvPr/>
        </p:nvSpPr>
        <p:spPr>
          <a:xfrm>
            <a:off x="2956484" y="1828800"/>
            <a:ext cx="1737360" cy="777240"/>
          </a:xfrm>
          <a:prstGeom prst="rect">
            <a:avLst/>
          </a:prstGeom>
          <a:noFill/>
          <a:ln/>
        </p:spPr>
        <p:txBody>
          <a:bodyPr wrap="square" lIns="0" tIns="0" rIns="0" bIns="0" rtlCol="0" anchor="t"/>
          <a:lstStyle/>
          <a:p>
            <a:pPr indent="0" marL="0">
              <a:buNone/>
            </a:pPr>
            <a:r>
              <a:rPr lang="en-US" sz="1300" dirty="0">
                <a:solidFill>
                  <a:schemeClr val="bg1"/>
                </a:solidFill>
              </a:rPr>
              <a:t>verifies it, and cannot mint one</a:t>
            </a:r>
            <a:endParaRPr lang="en-US" sz="1300" dirty="0"/>
          </a:p>
        </p:txBody>
      </p:sp>
      <p:sp>
        <p:nvSpPr>
          <p:cNvPr id="10" name="lock arrow 1"/>
          <p:cNvSpPr/>
          <p:nvPr/>
        </p:nvSpPr>
        <p:spPr>
          <a:xfrm>
            <a:off x="4849292" y="1892808"/>
            <a:ext cx="222428" cy="274320"/>
          </a:xfrm>
          <a:prstGeom prst="rightArrow">
            <a:avLst/>
          </a:prstGeom>
          <a:solidFill>
            <a:schemeClr val="accent5"/>
          </a:solidFill>
          <a:ln w="12700">
            <a:solidFill>
              <a:schemeClr val="accent5"/>
            </a:solidFill>
            <a:prstDash val="solid"/>
          </a:ln>
        </p:spPr>
      </p:sp>
      <p:sp>
        <p:nvSpPr>
          <p:cNvPr id="11" name="lock step Interlock"/>
          <p:cNvSpPr/>
          <p:nvPr/>
        </p:nvSpPr>
        <p:spPr>
          <a:xfrm>
            <a:off x="5090008" y="1371600"/>
            <a:ext cx="2011680" cy="1325880"/>
          </a:xfrm>
          <a:prstGeom prst="roundRect">
            <a:avLst>
              <a:gd name="adj" fmla="val 5517"/>
            </a:avLst>
          </a:prstGeom>
          <a:solidFill>
            <a:schemeClr val="accent3"/>
          </a:solidFill>
          <a:ln w="12700">
            <a:solidFill>
              <a:schemeClr val="accent3"/>
            </a:solidFill>
            <a:prstDash val="solid"/>
          </a:ln>
        </p:spPr>
      </p:sp>
      <p:sp>
        <p:nvSpPr>
          <p:cNvPr id="12" name="lock step title Interlock"/>
          <p:cNvSpPr txBox="1"/>
          <p:nvPr/>
        </p:nvSpPr>
        <p:spPr>
          <a:xfrm>
            <a:off x="5227168" y="1463040"/>
            <a:ext cx="1737360" cy="365760"/>
          </a:xfrm>
          <a:prstGeom prst="rect">
            <a:avLst/>
          </a:prstGeom>
          <a:noFill/>
          <a:ln/>
        </p:spPr>
        <p:txBody>
          <a:bodyPr wrap="square" lIns="0" tIns="0" rIns="0" bIns="0" rtlCol="0" anchor="ctr"/>
          <a:lstStyle/>
          <a:p>
            <a:pPr indent="0" marL="0">
              <a:buNone/>
            </a:pPr>
            <a:r>
              <a:rPr lang="en-US" sz="1700" b="1" dirty="0">
                <a:solidFill>
                  <a:schemeClr val="bg1"/>
                </a:solidFill>
              </a:rPr>
              <a:t>Interlock</a:t>
            </a:r>
            <a:endParaRPr lang="en-US" sz="1700" dirty="0"/>
          </a:p>
        </p:txBody>
      </p:sp>
      <p:sp>
        <p:nvSpPr>
          <p:cNvPr id="13" name="lock step body Interlock"/>
          <p:cNvSpPr txBox="1"/>
          <p:nvPr/>
        </p:nvSpPr>
        <p:spPr>
          <a:xfrm>
            <a:off x="5227168" y="1828800"/>
            <a:ext cx="1737360" cy="777240"/>
          </a:xfrm>
          <a:prstGeom prst="rect">
            <a:avLst/>
          </a:prstGeom>
          <a:noFill/>
          <a:ln/>
        </p:spPr>
        <p:txBody>
          <a:bodyPr wrap="square" lIns="0" tIns="0" rIns="0" bIns="0" rtlCol="0" anchor="t"/>
          <a:lstStyle/>
          <a:p>
            <a:pPr indent="0" marL="0">
              <a:buNone/>
            </a:pPr>
            <a:r>
              <a:rPr lang="en-US" sz="1300" dirty="0">
                <a:solidFill>
                  <a:schemeClr val="bg1"/>
                </a:solidFill>
              </a:rPr>
              <a:t>the device policy may still refuse</a:t>
            </a:r>
            <a:endParaRPr lang="en-US" sz="1300" dirty="0"/>
          </a:p>
        </p:txBody>
      </p:sp>
      <p:sp>
        <p:nvSpPr>
          <p:cNvPr id="14" name="lock arrow 2"/>
          <p:cNvSpPr/>
          <p:nvPr/>
        </p:nvSpPr>
        <p:spPr>
          <a:xfrm>
            <a:off x="7119976" y="1892808"/>
            <a:ext cx="222428" cy="274320"/>
          </a:xfrm>
          <a:prstGeom prst="rightArrow">
            <a:avLst/>
          </a:prstGeom>
          <a:solidFill>
            <a:schemeClr val="accent5"/>
          </a:solidFill>
          <a:ln w="12700">
            <a:solidFill>
              <a:schemeClr val="accent5"/>
            </a:solidFill>
            <a:prstDash val="solid"/>
          </a:ln>
        </p:spPr>
      </p:sp>
      <p:sp>
        <p:nvSpPr>
          <p:cNvPr id="15" name="lock step Adapter"/>
          <p:cNvSpPr/>
          <p:nvPr/>
        </p:nvSpPr>
        <p:spPr>
          <a:xfrm>
            <a:off x="7360691" y="1371600"/>
            <a:ext cx="2011680" cy="1325880"/>
          </a:xfrm>
          <a:prstGeom prst="roundRect">
            <a:avLst>
              <a:gd name="adj" fmla="val 5517"/>
            </a:avLst>
          </a:prstGeom>
          <a:solidFill>
            <a:schemeClr val="accent5"/>
          </a:solidFill>
          <a:ln w="12700">
            <a:solidFill>
              <a:schemeClr val="accent5"/>
            </a:solidFill>
            <a:prstDash val="solid"/>
          </a:ln>
        </p:spPr>
      </p:sp>
      <p:sp>
        <p:nvSpPr>
          <p:cNvPr id="16" name="lock step title Adapter"/>
          <p:cNvSpPr txBox="1"/>
          <p:nvPr/>
        </p:nvSpPr>
        <p:spPr>
          <a:xfrm>
            <a:off x="7497851" y="1463040"/>
            <a:ext cx="1737360" cy="365760"/>
          </a:xfrm>
          <a:prstGeom prst="rect">
            <a:avLst/>
          </a:prstGeom>
          <a:noFill/>
          <a:ln/>
        </p:spPr>
        <p:txBody>
          <a:bodyPr wrap="square" lIns="0" tIns="0" rIns="0" bIns="0" rtlCol="0" anchor="ctr"/>
          <a:lstStyle/>
          <a:p>
            <a:pPr indent="0" marL="0">
              <a:buNone/>
            </a:pPr>
            <a:r>
              <a:rPr lang="en-US" sz="1700" b="1" dirty="0">
                <a:solidFill>
                  <a:schemeClr val="bg1"/>
                </a:solidFill>
              </a:rPr>
              <a:t>Adapter</a:t>
            </a:r>
            <a:endParaRPr lang="en-US" sz="1700" dirty="0"/>
          </a:p>
        </p:txBody>
      </p:sp>
      <p:sp>
        <p:nvSpPr>
          <p:cNvPr id="17" name="lock step body Adapter"/>
          <p:cNvSpPr txBox="1"/>
          <p:nvPr/>
        </p:nvSpPr>
        <p:spPr>
          <a:xfrm>
            <a:off x="7497851" y="1828800"/>
            <a:ext cx="1737360" cy="777240"/>
          </a:xfrm>
          <a:prstGeom prst="rect">
            <a:avLst/>
          </a:prstGeom>
          <a:noFill/>
          <a:ln/>
        </p:spPr>
        <p:txBody>
          <a:bodyPr wrap="square" lIns="0" tIns="0" rIns="0" bIns="0" rtlCol="0" anchor="t"/>
          <a:lstStyle/>
          <a:p>
            <a:pPr indent="0" marL="0">
              <a:buNone/>
            </a:pPr>
            <a:r>
              <a:rPr lang="en-US" sz="1300" dirty="0">
                <a:solidFill>
                  <a:schemeClr val="bg1"/>
                </a:solidFill>
              </a:rPr>
              <a:t>the only code that speaks the protocol</a:t>
            </a:r>
            <a:endParaRPr lang="en-US" sz="1300" dirty="0"/>
          </a:p>
        </p:txBody>
      </p:sp>
      <p:sp>
        <p:nvSpPr>
          <p:cNvPr id="18" name="lock arrow 3"/>
          <p:cNvSpPr/>
          <p:nvPr/>
        </p:nvSpPr>
        <p:spPr>
          <a:xfrm>
            <a:off x="9390659" y="1892808"/>
            <a:ext cx="222428" cy="274320"/>
          </a:xfrm>
          <a:prstGeom prst="rightArrow">
            <a:avLst/>
          </a:prstGeom>
          <a:solidFill>
            <a:schemeClr val="accent5"/>
          </a:solidFill>
          <a:ln w="12700">
            <a:solidFill>
              <a:schemeClr val="accent5"/>
            </a:solidFill>
            <a:prstDash val="solid"/>
          </a:ln>
        </p:spPr>
      </p:sp>
      <p:sp>
        <p:nvSpPr>
          <p:cNvPr id="19" name="lock step Read-back"/>
          <p:cNvSpPr/>
          <p:nvPr/>
        </p:nvSpPr>
        <p:spPr>
          <a:xfrm>
            <a:off x="9631375" y="1371600"/>
            <a:ext cx="2011680" cy="1325880"/>
          </a:xfrm>
          <a:prstGeom prst="roundRect">
            <a:avLst>
              <a:gd name="adj" fmla="val 5517"/>
            </a:avLst>
          </a:prstGeom>
          <a:solidFill>
            <a:schemeClr val="accent2"/>
          </a:solidFill>
          <a:ln w="12700">
            <a:solidFill>
              <a:schemeClr val="accent2"/>
            </a:solidFill>
            <a:prstDash val="solid"/>
          </a:ln>
        </p:spPr>
      </p:sp>
      <p:sp>
        <p:nvSpPr>
          <p:cNvPr id="20" name="lock step title Read-back"/>
          <p:cNvSpPr txBox="1"/>
          <p:nvPr/>
        </p:nvSpPr>
        <p:spPr>
          <a:xfrm>
            <a:off x="9768535" y="1463040"/>
            <a:ext cx="1737360" cy="365760"/>
          </a:xfrm>
          <a:prstGeom prst="rect">
            <a:avLst/>
          </a:prstGeom>
          <a:noFill/>
          <a:ln/>
        </p:spPr>
        <p:txBody>
          <a:bodyPr wrap="square" lIns="0" tIns="0" rIns="0" bIns="0" rtlCol="0" anchor="ctr"/>
          <a:lstStyle/>
          <a:p>
            <a:pPr indent="0" marL="0">
              <a:buNone/>
            </a:pPr>
            <a:r>
              <a:rPr lang="en-US" sz="1700" b="1" dirty="0">
                <a:solidFill>
                  <a:schemeClr val="bg1"/>
                </a:solidFill>
              </a:rPr>
              <a:t>Read-back</a:t>
            </a:r>
            <a:endParaRPr lang="en-US" sz="1700" dirty="0"/>
          </a:p>
        </p:txBody>
      </p:sp>
      <p:sp>
        <p:nvSpPr>
          <p:cNvPr id="21" name="lock step body Read-back"/>
          <p:cNvSpPr txBox="1"/>
          <p:nvPr/>
        </p:nvSpPr>
        <p:spPr>
          <a:xfrm>
            <a:off x="9768535" y="1828800"/>
            <a:ext cx="1737360" cy="777240"/>
          </a:xfrm>
          <a:prstGeom prst="rect">
            <a:avLst/>
          </a:prstGeom>
          <a:noFill/>
          <a:ln/>
        </p:spPr>
        <p:txBody>
          <a:bodyPr wrap="square" lIns="0" tIns="0" rIns="0" bIns="0" rtlCol="0" anchor="t"/>
          <a:lstStyle/>
          <a:p>
            <a:pPr indent="0" marL="0">
              <a:buNone/>
            </a:pPr>
            <a:r>
              <a:rPr lang="en-US" sz="1300" dirty="0">
                <a:solidFill>
                  <a:schemeClr val="bg1"/>
                </a:solidFill>
              </a:rPr>
              <a:t>the write is verified, then journalled</a:t>
            </a:r>
            <a:endParaRPr lang="en-US" sz="1300" dirty="0"/>
          </a:p>
        </p:txBody>
      </p:sp>
      <p:pic>
        <p:nvPicPr>
          <p:cNvPr id="22" name="MHS one core many faces diagram" descr="MHS one core many faces diagram">    </p:cNvPr>
          <p:cNvPicPr>
            <a:picLocks noChangeAspect="1"/>
          </p:cNvPicPr>
          <p:nvPr/>
        </p:nvPicPr>
        <p:blipFill>
          <a:blip r:embed="rId1"/>
          <a:stretch>
            <a:fillRect/>
          </a:stretch>
        </p:blipFill>
        <p:spPr>
          <a:xfrm>
            <a:off x="548640" y="3068702"/>
            <a:ext cx="5760720" cy="2960875"/>
          </a:xfrm>
          <a:prstGeom prst="rect">
            <a:avLst/>
          </a:prstGeom>
        </p:spPr>
      </p:pic>
      <p:sp>
        <p:nvSpPr>
          <p:cNvPr id="23" name="mhs bullets"/>
          <p:cNvSpPr txBox="1"/>
          <p:nvPr/>
        </p:nvSpPr>
        <p:spPr>
          <a:xfrm>
            <a:off x="6583680" y="3063240"/>
            <a:ext cx="5056632" cy="301752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Agent harness, MCP, cabin display and the SOVD diagnostic API are faces of one core. None speaks a protocol.</a:t>
            </a:r>
            <a:endParaRPr lang="en-US" sz="1500" dirty="0"/>
          </a:p>
          <a:p>
            <a:pPr marL="342900" indent="-342900">
              <a:spcAft>
                <a:spcPts val="800"/>
              </a:spcAft>
              <a:buSzPct val="100000"/>
              <a:buChar char="•"/>
            </a:pPr>
            <a:r>
              <a:rPr lang="en-US" sz="1500" dirty="0">
                <a:solidFill>
                  <a:schemeClr val="tx1"/>
                </a:solidFill>
              </a:rPr>
              <a:t>Live data leaves only through budgeted lenses. Anything held is a lease that expires to a safe state.</a:t>
            </a:r>
            <a:endParaRPr lang="en-US" sz="1500" dirty="0"/>
          </a:p>
          <a:p>
            <a:pPr marL="342900" indent="-342900">
              <a:spcAft>
                <a:spcPts val="800"/>
              </a:spcAft>
              <a:buSzPct val="100000"/>
              <a:buChar char="•"/>
            </a:pPr>
            <a:r>
              <a:rPr lang="en-US" sz="1500" dirty="0">
                <a:solidFill>
                  <a:schemeClr val="tx1"/>
                </a:solidFill>
              </a:rPr>
              <a:t>Faults are named: REGISTRY_CHANGED, INTERLOCK_REJECTED, LEASE_EXPIRED, CONTROLLER_HALTED.</a:t>
            </a:r>
            <a:endParaRPr lang="en-US" sz="1500" dirty="0"/>
          </a:p>
          <a:p>
            <a:pPr marL="342900" indent="-342900">
              <a:spcAft>
                <a:spcPts val="800"/>
              </a:spcAft>
              <a:buSzPct val="100000"/>
              <a:buChar char="•"/>
            </a:pPr>
            <a:r>
              <a:rPr lang="en-US" sz="1500" b="1" dirty="0">
                <a:solidFill>
                  <a:schemeClr val="tx1"/>
                </a:solidFill>
              </a:rPr>
              <a:t>481 MHS tests passed (19 Oct 2026).</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Alerts never wait for a model</a:t>
            </a:r>
            <a:endParaRPr lang="en-US" sz="3200" dirty="0"/>
          </a:p>
        </p:txBody>
      </p:sp>
      <p:sp>
        <p:nvSpPr>
          <p:cNvPr id="3" name="lane title 0"/>
          <p:cNvSpPr txBox="1"/>
          <p:nvPr/>
        </p:nvSpPr>
        <p:spPr>
          <a:xfrm>
            <a:off x="548640" y="1463040"/>
            <a:ext cx="5760720" cy="365760"/>
          </a:xfrm>
          <a:prstGeom prst="rect">
            <a:avLst/>
          </a:prstGeom>
          <a:noFill/>
          <a:ln/>
        </p:spPr>
        <p:txBody>
          <a:bodyPr wrap="square" lIns="0" tIns="0" rIns="0" bIns="0" rtlCol="0" anchor="ctr"/>
          <a:lstStyle/>
          <a:p>
            <a:pPr indent="0" marL="0">
              <a:buNone/>
            </a:pPr>
            <a:r>
              <a:rPr lang="en-US" sz="1700" b="1" dirty="0">
                <a:solidFill>
                  <a:schemeClr val="accent2"/>
                </a:solidFill>
              </a:rPr>
              <a:t>Path A · deterministic, no model</a:t>
            </a:r>
            <a:endParaRPr lang="en-US" sz="1700" dirty="0"/>
          </a:p>
        </p:txBody>
      </p:sp>
      <p:sp>
        <p:nvSpPr>
          <p:cNvPr id="4" name="lane box a 0"/>
          <p:cNvSpPr/>
          <p:nvPr/>
        </p:nvSpPr>
        <p:spPr>
          <a:xfrm>
            <a:off x="548640" y="1920240"/>
            <a:ext cx="2651760" cy="1371600"/>
          </a:xfrm>
          <a:prstGeom prst="roundRect">
            <a:avLst>
              <a:gd name="adj" fmla="val 5333"/>
            </a:avLst>
          </a:prstGeom>
          <a:solidFill>
            <a:schemeClr val="bg2"/>
          </a:solidFill>
          <a:ln w="12700">
            <a:solidFill>
              <a:schemeClr val="bg2"/>
            </a:solidFill>
            <a:prstDash val="solid"/>
          </a:ln>
        </p:spPr>
      </p:sp>
      <p:sp>
        <p:nvSpPr>
          <p:cNvPr id="5" name="lane text a 0"/>
          <p:cNvSpPr txBox="1"/>
          <p:nvPr/>
        </p:nvSpPr>
        <p:spPr>
          <a:xfrm>
            <a:off x="713232" y="2011680"/>
            <a:ext cx="2331720" cy="1188720"/>
          </a:xfrm>
          <a:prstGeom prst="rect">
            <a:avLst/>
          </a:prstGeom>
          <a:noFill/>
          <a:ln/>
        </p:spPr>
        <p:txBody>
          <a:bodyPr wrap="square" lIns="0" tIns="0" rIns="0" bIns="0" rtlCol="0" anchor="ctr"/>
          <a:lstStyle/>
          <a:p>
            <a:pPr indent="0" marL="0">
              <a:buNone/>
            </a:pPr>
            <a:r>
              <a:rPr lang="en-US" sz="1400" dirty="0">
                <a:solidFill>
                  <a:schemeClr val="tx1"/>
                </a:solidFill>
              </a:rPr>
              <a:t>Declared rules: coolant hot, door open while moving, belt unfastened</a:t>
            </a:r>
            <a:endParaRPr lang="en-US" sz="1400" dirty="0"/>
          </a:p>
        </p:txBody>
      </p:sp>
      <p:sp>
        <p:nvSpPr>
          <p:cNvPr id="6" name="lane arrow 0"/>
          <p:cNvSpPr/>
          <p:nvPr/>
        </p:nvSpPr>
        <p:spPr>
          <a:xfrm>
            <a:off x="3273552" y="2468880"/>
            <a:ext cx="384048" cy="274320"/>
          </a:xfrm>
          <a:prstGeom prst="rightArrow">
            <a:avLst/>
          </a:prstGeom>
          <a:solidFill>
            <a:schemeClr val="accent2"/>
          </a:solidFill>
          <a:ln w="12700">
            <a:solidFill>
              <a:schemeClr val="accent2"/>
            </a:solidFill>
            <a:prstDash val="solid"/>
          </a:ln>
        </p:spPr>
      </p:sp>
      <p:sp>
        <p:nvSpPr>
          <p:cNvPr id="7" name="lane box b 0"/>
          <p:cNvSpPr/>
          <p:nvPr/>
        </p:nvSpPr>
        <p:spPr>
          <a:xfrm>
            <a:off x="3730752" y="1920240"/>
            <a:ext cx="2606040" cy="1371600"/>
          </a:xfrm>
          <a:prstGeom prst="roundRect">
            <a:avLst>
              <a:gd name="adj" fmla="val 5333"/>
            </a:avLst>
          </a:prstGeom>
          <a:solidFill>
            <a:schemeClr val="accent2"/>
          </a:solidFill>
          <a:ln w="12700">
            <a:solidFill>
              <a:schemeClr val="accent2"/>
            </a:solidFill>
            <a:prstDash val="solid"/>
          </a:ln>
        </p:spPr>
      </p:sp>
      <p:sp>
        <p:nvSpPr>
          <p:cNvPr id="8" name="lane text b 0"/>
          <p:cNvSpPr txBox="1"/>
          <p:nvPr/>
        </p:nvSpPr>
        <p:spPr>
          <a:xfrm>
            <a:off x="3895344" y="2011680"/>
            <a:ext cx="2286000" cy="1188720"/>
          </a:xfrm>
          <a:prstGeom prst="rect">
            <a:avLst/>
          </a:prstGeom>
          <a:noFill/>
          <a:ln/>
        </p:spPr>
        <p:txBody>
          <a:bodyPr wrap="square" lIns="0" tIns="0" rIns="0" bIns="0" rtlCol="0" anchor="ctr"/>
          <a:lstStyle/>
          <a:p>
            <a:pPr indent="0" marL="0">
              <a:buNone/>
            </a:pPr>
            <a:r>
              <a:rPr lang="en-US" sz="1400" b="1" dirty="0">
                <a:solidFill>
                  <a:schemeClr val="bg1"/>
                </a:solidFill>
              </a:rPr>
              <a:t>Alert on screen and sound</a:t>
            </a:r>
            <a:endParaRPr lang="en-US" sz="1400" dirty="0"/>
          </a:p>
        </p:txBody>
      </p:sp>
      <p:sp>
        <p:nvSpPr>
          <p:cNvPr id="9" name="lane title 1"/>
          <p:cNvSpPr txBox="1"/>
          <p:nvPr/>
        </p:nvSpPr>
        <p:spPr>
          <a:xfrm>
            <a:off x="548640" y="3611880"/>
            <a:ext cx="5760720" cy="365760"/>
          </a:xfrm>
          <a:prstGeom prst="rect">
            <a:avLst/>
          </a:prstGeom>
          <a:noFill/>
          <a:ln/>
        </p:spPr>
        <p:txBody>
          <a:bodyPr wrap="square" lIns="0" tIns="0" rIns="0" bIns="0" rtlCol="0" anchor="ctr"/>
          <a:lstStyle/>
          <a:p>
            <a:pPr indent="0" marL="0">
              <a:buNone/>
            </a:pPr>
            <a:r>
              <a:rPr lang="en-US" sz="1700" b="1" dirty="0">
                <a:solidFill>
                  <a:schemeClr val="tx2"/>
                </a:solidFill>
              </a:rPr>
              <a:t>Path B · the governed agent</a:t>
            </a:r>
            <a:endParaRPr lang="en-US" sz="1700" dirty="0"/>
          </a:p>
        </p:txBody>
      </p:sp>
      <p:sp>
        <p:nvSpPr>
          <p:cNvPr id="10" name="lane box a 1"/>
          <p:cNvSpPr/>
          <p:nvPr/>
        </p:nvSpPr>
        <p:spPr>
          <a:xfrm>
            <a:off x="548640" y="4069080"/>
            <a:ext cx="2651760" cy="1371600"/>
          </a:xfrm>
          <a:prstGeom prst="roundRect">
            <a:avLst>
              <a:gd name="adj" fmla="val 5333"/>
            </a:avLst>
          </a:prstGeom>
          <a:solidFill>
            <a:schemeClr val="bg2"/>
          </a:solidFill>
          <a:ln w="12700">
            <a:solidFill>
              <a:schemeClr val="bg2"/>
            </a:solidFill>
            <a:prstDash val="solid"/>
          </a:ln>
        </p:spPr>
      </p:sp>
      <p:sp>
        <p:nvSpPr>
          <p:cNvPr id="11" name="lane text a 1"/>
          <p:cNvSpPr txBox="1"/>
          <p:nvPr/>
        </p:nvSpPr>
        <p:spPr>
          <a:xfrm>
            <a:off x="713232" y="4160520"/>
            <a:ext cx="2331720" cy="1188720"/>
          </a:xfrm>
          <a:prstGeom prst="rect">
            <a:avLst/>
          </a:prstGeom>
          <a:noFill/>
          <a:ln/>
        </p:spPr>
        <p:txBody>
          <a:bodyPr wrap="square" lIns="0" tIns="0" rIns="0" bIns="0" rtlCol="0" anchor="ctr"/>
          <a:lstStyle/>
          <a:p>
            <a:pPr indent="0" marL="0">
              <a:buNone/>
            </a:pPr>
            <a:r>
              <a:rPr lang="en-US" sz="1400" dirty="0">
                <a:solidFill>
                  <a:schemeClr val="tx1"/>
                </a:solidFill>
              </a:rPr>
              <a:t>Through Allow(q), like every other call</a:t>
            </a:r>
            <a:endParaRPr lang="en-US" sz="1400" dirty="0"/>
          </a:p>
        </p:txBody>
      </p:sp>
      <p:sp>
        <p:nvSpPr>
          <p:cNvPr id="12" name="lane arrow 1"/>
          <p:cNvSpPr/>
          <p:nvPr/>
        </p:nvSpPr>
        <p:spPr>
          <a:xfrm>
            <a:off x="3273552" y="4617720"/>
            <a:ext cx="384048" cy="274320"/>
          </a:xfrm>
          <a:prstGeom prst="rightArrow">
            <a:avLst/>
          </a:prstGeom>
          <a:solidFill>
            <a:schemeClr val="tx2"/>
          </a:solidFill>
          <a:ln w="12700">
            <a:solidFill>
              <a:schemeClr val="tx2"/>
            </a:solidFill>
            <a:prstDash val="solid"/>
          </a:ln>
        </p:spPr>
      </p:sp>
      <p:sp>
        <p:nvSpPr>
          <p:cNvPr id="13" name="lane box b 1"/>
          <p:cNvSpPr/>
          <p:nvPr/>
        </p:nvSpPr>
        <p:spPr>
          <a:xfrm>
            <a:off x="3730752" y="4069080"/>
            <a:ext cx="2606040" cy="1371600"/>
          </a:xfrm>
          <a:prstGeom prst="roundRect">
            <a:avLst>
              <a:gd name="adj" fmla="val 5333"/>
            </a:avLst>
          </a:prstGeom>
          <a:solidFill>
            <a:schemeClr val="tx2"/>
          </a:solidFill>
          <a:ln w="12700">
            <a:solidFill>
              <a:schemeClr val="tx2"/>
            </a:solidFill>
            <a:prstDash val="solid"/>
          </a:ln>
        </p:spPr>
      </p:sp>
      <p:sp>
        <p:nvSpPr>
          <p:cNvPr id="14" name="lane text b 1"/>
          <p:cNvSpPr txBox="1"/>
          <p:nvPr/>
        </p:nvSpPr>
        <p:spPr>
          <a:xfrm>
            <a:off x="3895344" y="4160520"/>
            <a:ext cx="2286000" cy="1188720"/>
          </a:xfrm>
          <a:prstGeom prst="rect">
            <a:avLst/>
          </a:prstGeom>
          <a:noFill/>
          <a:ln/>
        </p:spPr>
        <p:txBody>
          <a:bodyPr wrap="square" lIns="0" tIns="0" rIns="0" bIns="0" rtlCol="0" anchor="ctr"/>
          <a:lstStyle/>
          <a:p>
            <a:pPr indent="0" marL="0">
              <a:buNone/>
            </a:pPr>
            <a:r>
              <a:rPr lang="en-US" sz="1400" b="1" dirty="0">
                <a:solidFill>
                  <a:schemeClr val="bg1"/>
                </a:solidFill>
              </a:rPr>
              <a:t>May explain an alert. Never clear or suppress one</a:t>
            </a:r>
            <a:endParaRPr lang="en-US" sz="1400" dirty="0"/>
          </a:p>
        </p:txBody>
      </p:sp>
      <p:sp>
        <p:nvSpPr>
          <p:cNvPr id="15" name="c3 head"/>
          <p:cNvSpPr txBox="1"/>
          <p:nvPr/>
        </p:nvSpPr>
        <p:spPr>
          <a:xfrm>
            <a:off x="6858000" y="1463040"/>
            <a:ext cx="4754880" cy="365760"/>
          </a:xfrm>
          <a:prstGeom prst="rect">
            <a:avLst/>
          </a:prstGeom>
          <a:noFill/>
          <a:ln/>
        </p:spPr>
        <p:txBody>
          <a:bodyPr wrap="square" lIns="0" tIns="0" rIns="0" bIns="0" rtlCol="0" anchor="ctr"/>
          <a:lstStyle/>
          <a:p>
            <a:pPr indent="0" marL="0">
              <a:buNone/>
            </a:pPr>
            <a:r>
              <a:rPr lang="en-US" sz="1700" b="1" dirty="0">
                <a:solidFill>
                  <a:schemeClr val="accent3"/>
                </a:solidFill>
              </a:rPr>
              <a:t>Refused by name (C3)</a:t>
            </a:r>
            <a:endParaRPr lang="en-US" sz="1700" dirty="0"/>
          </a:p>
        </p:txBody>
      </p:sp>
      <p:sp>
        <p:nvSpPr>
          <p:cNvPr id="16" name="c3 send_can_frame"/>
          <p:cNvSpPr txBox="1"/>
          <p:nvPr/>
        </p:nvSpPr>
        <p:spPr>
          <a:xfrm>
            <a:off x="6858000" y="19659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send_can_frame</a:t>
            </a:r>
            <a:endParaRPr lang="en-US" sz="1100" dirty="0"/>
          </a:p>
        </p:txBody>
      </p:sp>
      <p:sp>
        <p:nvSpPr>
          <p:cNvPr id="17" name="c3 write_ecu_memory"/>
          <p:cNvSpPr txBox="1"/>
          <p:nvPr/>
        </p:nvSpPr>
        <p:spPr>
          <a:xfrm>
            <a:off x="9281160" y="19659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write_ecu_memory</a:t>
            </a:r>
            <a:endParaRPr lang="en-US" sz="1100" dirty="0"/>
          </a:p>
        </p:txBody>
      </p:sp>
      <p:sp>
        <p:nvSpPr>
          <p:cNvPr id="18" name="c3 install_ota_bundle"/>
          <p:cNvSpPr txBox="1"/>
          <p:nvPr/>
        </p:nvSpPr>
        <p:spPr>
          <a:xfrm>
            <a:off x="6858000" y="24231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install_ota_bundle</a:t>
            </a:r>
            <a:endParaRPr lang="en-US" sz="1100" dirty="0"/>
          </a:p>
        </p:txBody>
      </p:sp>
      <p:sp>
        <p:nvSpPr>
          <p:cNvPr id="19" name="c3 stream_forward_camera_raw"/>
          <p:cNvSpPr txBox="1"/>
          <p:nvPr/>
        </p:nvSpPr>
        <p:spPr>
          <a:xfrm>
            <a:off x="9281160" y="24231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stream_forward_camera_raw</a:t>
            </a:r>
            <a:endParaRPr lang="en-US" sz="1100" dirty="0"/>
          </a:p>
        </p:txBody>
      </p:sp>
      <p:sp>
        <p:nvSpPr>
          <p:cNvPr id="20" name="c3 get_cabin_frame"/>
          <p:cNvSpPr txBox="1"/>
          <p:nvPr/>
        </p:nvSpPr>
        <p:spPr>
          <a:xfrm>
            <a:off x="6858000" y="28803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get_cabin_frame</a:t>
            </a:r>
            <a:endParaRPr lang="en-US" sz="1100" dirty="0"/>
          </a:p>
        </p:txBody>
      </p:sp>
      <p:sp>
        <p:nvSpPr>
          <p:cNvPr id="21" name="c3 identify_driver"/>
          <p:cNvSpPr txBox="1"/>
          <p:nvPr/>
        </p:nvSpPr>
        <p:spPr>
          <a:xfrm>
            <a:off x="9281160" y="28803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identify_driver</a:t>
            </a:r>
            <a:endParaRPr lang="en-US" sz="1100" dirty="0"/>
          </a:p>
        </p:txBody>
      </p:sp>
      <p:sp>
        <p:nvSpPr>
          <p:cNvPr id="22" name="c3 identify_speaker"/>
          <p:cNvSpPr txBox="1"/>
          <p:nvPr/>
        </p:nvSpPr>
        <p:spPr>
          <a:xfrm>
            <a:off x="6858000" y="33375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identify_speaker</a:t>
            </a:r>
            <a:endParaRPr lang="en-US" sz="1100" dirty="0"/>
          </a:p>
        </p:txBody>
      </p:sp>
      <p:sp>
        <p:nvSpPr>
          <p:cNvPr id="23" name="c3 read_emotion"/>
          <p:cNvSpPr txBox="1"/>
          <p:nvPr/>
        </p:nvSpPr>
        <p:spPr>
          <a:xfrm>
            <a:off x="9281160" y="33375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read_emotion</a:t>
            </a:r>
            <a:endParaRPr lang="en-US" sz="1100" dirty="0"/>
          </a:p>
        </p:txBody>
      </p:sp>
      <p:sp>
        <p:nvSpPr>
          <p:cNvPr id="24" name="c3 detect_stress"/>
          <p:cNvSpPr txBox="1"/>
          <p:nvPr/>
        </p:nvSpPr>
        <p:spPr>
          <a:xfrm>
            <a:off x="6858000" y="37947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detect_stress</a:t>
            </a:r>
            <a:endParaRPr lang="en-US" sz="1100" dirty="0"/>
          </a:p>
        </p:txBody>
      </p:sp>
      <p:sp>
        <p:nvSpPr>
          <p:cNvPr id="25" name="c3 detect_smoking"/>
          <p:cNvSpPr txBox="1"/>
          <p:nvPr/>
        </p:nvSpPr>
        <p:spPr>
          <a:xfrm>
            <a:off x="9281160" y="37947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detect_smoking</a:t>
            </a:r>
            <a:endParaRPr lang="en-US" sz="1100" dirty="0"/>
          </a:p>
        </p:txBody>
      </p:sp>
      <p:sp>
        <p:nvSpPr>
          <p:cNvPr id="26" name="c3 store_audio"/>
          <p:cNvSpPr txBox="1"/>
          <p:nvPr/>
        </p:nvSpPr>
        <p:spPr>
          <a:xfrm>
            <a:off x="6858000" y="4251960"/>
            <a:ext cx="2286000" cy="347472"/>
          </a:xfrm>
          <a:prstGeom prst="roundRect">
            <a:avLst>
              <a:gd name="adj" fmla="val 26316"/>
            </a:avLst>
          </a:prstGeom>
          <a:solidFill>
            <a:schemeClr val="bg1"/>
          </a:solidFill>
          <a:ln>
            <a:solidFill>
              <a:schemeClr val="accent3"/>
            </a:solid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store_audio</a:t>
            </a:r>
            <a:endParaRPr lang="en-US" sz="1100" dirty="0"/>
          </a:p>
        </p:txBody>
      </p:sp>
      <p:sp>
        <p:nvSpPr>
          <p:cNvPr id="27" name="c3 note"/>
          <p:cNvSpPr txBox="1"/>
          <p:nvPr/>
        </p:nvSpPr>
        <p:spPr>
          <a:xfrm>
            <a:off x="6858000" y="4754880"/>
            <a:ext cx="4754880" cy="868680"/>
          </a:xfrm>
          <a:prstGeom prst="rect">
            <a:avLst/>
          </a:prstGeom>
          <a:noFill/>
          <a:ln/>
        </p:spPr>
        <p:txBody>
          <a:bodyPr wrap="square" lIns="0" tIns="0" rIns="0" bIns="0" rtlCol="0" anchor="t"/>
          <a:lstStyle/>
          <a:p>
            <a:pPr indent="0" marL="0">
              <a:buNone/>
            </a:pPr>
            <a:r>
              <a:rPr lang="en-US" sz="1400" dirty="0">
                <a:solidFill>
                  <a:schemeClr val="tx1"/>
                </a:solidFill>
              </a:rPr>
              <a:t>In no manifest, ever. The names exist only so a request for them is refused with NOT_IN_MANIFEST, before any model runs.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Privacy by construction, not by redaction</a:t>
            </a:r>
            <a:endParaRPr lang="en-US" sz="3200" dirty="0"/>
          </a:p>
        </p:txBody>
      </p:sp>
      <p:pic>
        <p:nvPicPr>
          <p:cNvPr id="3" name="driver attention screen drawn as lines" descr="driver attention screen drawn as lines">    </p:cNvPr>
          <p:cNvPicPr>
            <a:picLocks noChangeAspect="1"/>
          </p:cNvPicPr>
          <p:nvPr/>
        </p:nvPicPr>
        <p:blipFill>
          <a:blip r:embed="rId1"/>
          <a:stretch>
            <a:fillRect/>
          </a:stretch>
        </p:blipFill>
        <p:spPr>
          <a:xfrm>
            <a:off x="640080" y="1325880"/>
            <a:ext cx="5257800" cy="3154680"/>
          </a:xfrm>
          <a:prstGeom prst="rect">
            <a:avLst/>
          </a:prstGeom>
        </p:spPr>
      </p:pic>
      <p:pic>
        <p:nvPicPr>
          <p:cNvPr id="4" name="road view with blurred picture" descr="road view with blurred picture">    </p:cNvPr>
          <p:cNvPicPr>
            <a:picLocks noChangeAspect="1"/>
          </p:cNvPicPr>
          <p:nvPr/>
        </p:nvPicPr>
        <p:blipFill>
          <a:blip r:embed="rId2"/>
          <a:stretch>
            <a:fillRect/>
          </a:stretch>
        </p:blipFill>
        <p:spPr>
          <a:xfrm>
            <a:off x="6263640" y="1325880"/>
            <a:ext cx="5257800" cy="3154680"/>
          </a:xfrm>
          <a:prstGeom prst="rect">
            <a:avLst/>
          </a:prstGeom>
        </p:spPr>
      </p:pic>
      <p:sp>
        <p:nvSpPr>
          <p:cNvPr id="5" name="caption a"/>
          <p:cNvSpPr txBox="1"/>
          <p:nvPr/>
        </p:nvSpPr>
        <p:spPr>
          <a:xfrm>
            <a:off x="640080" y="4553712"/>
            <a:ext cx="5257800" cy="274320"/>
          </a:xfrm>
          <a:prstGeom prst="rect">
            <a:avLst/>
          </a:prstGeom>
          <a:noFill/>
          <a:ln/>
        </p:spPr>
        <p:txBody>
          <a:bodyPr wrap="square" lIns="0" tIns="0" rIns="0" bIns="0" rtlCol="0" anchor="ctr"/>
          <a:lstStyle/>
          <a:p>
            <a:pPr indent="0" marL="0">
              <a:buNone/>
            </a:pPr>
            <a:r>
              <a:rPr lang="en-US" sz="1200" dirty="0">
                <a:solidFill>
                  <a:schemeClr val="accent5"/>
                </a:solidFill>
              </a:rPr>
              <a:t>The driver's face, drawn from numbers</a:t>
            </a:r>
            <a:endParaRPr lang="en-US" sz="1200" dirty="0"/>
          </a:p>
        </p:txBody>
      </p:sp>
      <p:sp>
        <p:nvSpPr>
          <p:cNvPr id="6" name="caption b"/>
          <p:cNvSpPr txBox="1"/>
          <p:nvPr/>
        </p:nvSpPr>
        <p:spPr>
          <a:xfrm>
            <a:off x="6263640" y="4553712"/>
            <a:ext cx="5257800" cy="274320"/>
          </a:xfrm>
          <a:prstGeom prst="rect">
            <a:avLst/>
          </a:prstGeom>
          <a:noFill/>
          <a:ln/>
        </p:spPr>
        <p:txBody>
          <a:bodyPr wrap="square" lIns="0" tIns="0" rIns="0" bIns="0" rtlCol="0" anchor="ctr"/>
          <a:lstStyle/>
          <a:p>
            <a:pPr indent="0" marL="0">
              <a:buNone/>
            </a:pPr>
            <a:r>
              <a:rPr lang="en-US" sz="1200" dirty="0">
                <a:solidFill>
                  <a:schemeClr val="accent5"/>
                </a:solidFill>
              </a:rPr>
              <a:t>The dash cam, blurred before it leaves the computer</a:t>
            </a:r>
            <a:endParaRPr lang="en-US" sz="1200" dirty="0"/>
          </a:p>
        </p:txBody>
      </p:sp>
      <p:sp>
        <p:nvSpPr>
          <p:cNvPr id="7" name="privacy rule 1 dot"/>
          <p:cNvSpPr/>
          <p:nvPr/>
        </p:nvSpPr>
        <p:spPr>
          <a:xfrm>
            <a:off x="548640" y="5029200"/>
            <a:ext cx="548640" cy="548640"/>
          </a:xfrm>
          <a:prstGeom prst="ellipse">
            <a:avLst/>
          </a:prstGeom>
          <a:solidFill>
            <a:schemeClr val="tx2"/>
          </a:solidFill>
          <a:ln w="12700">
            <a:solidFill>
              <a:schemeClr val="tx2"/>
            </a:solidFill>
            <a:prstDash val="solid"/>
          </a:ln>
        </p:spPr>
      </p:sp>
      <p:pic>
        <p:nvPicPr>
          <p:cNvPr id="8" name="privacy rule 1 icon" descr="preencoded.png">    </p:cNvPr>
          <p:cNvPicPr>
            <a:picLocks noChangeAspect="1"/>
          </p:cNvPicPr>
          <p:nvPr/>
        </p:nvPicPr>
        <p:blipFill>
          <a:blip r:embed="rId3"/>
          <a:stretch>
            <a:fillRect/>
          </a:stretch>
        </p:blipFill>
        <p:spPr>
          <a:xfrm>
            <a:off x="685800" y="5166360"/>
            <a:ext cx="274320" cy="274320"/>
          </a:xfrm>
          <a:prstGeom prst="rect">
            <a:avLst/>
          </a:prstGeom>
        </p:spPr>
      </p:pic>
      <p:sp>
        <p:nvSpPr>
          <p:cNvPr id="9" name="privacy title 1"/>
          <p:cNvSpPr txBox="1"/>
          <p:nvPr/>
        </p:nvSpPr>
        <p:spPr>
          <a:xfrm>
            <a:off x="1234440" y="4983480"/>
            <a:ext cx="2011680" cy="320040"/>
          </a:xfrm>
          <a:prstGeom prst="rect">
            <a:avLst/>
          </a:prstGeom>
          <a:noFill/>
          <a:ln/>
        </p:spPr>
        <p:txBody>
          <a:bodyPr wrap="square" lIns="0" tIns="0" rIns="0" bIns="0" rtlCol="0" anchor="ctr"/>
          <a:lstStyle/>
          <a:p>
            <a:pPr indent="0" marL="0">
              <a:buNone/>
            </a:pPr>
            <a:r>
              <a:rPr lang="en-US" sz="1500" b="1" dirty="0">
                <a:solidFill>
                  <a:schemeClr val="tx2"/>
                </a:solidFill>
              </a:rPr>
              <a:t>Driver camera</a:t>
            </a:r>
            <a:endParaRPr lang="en-US" sz="1500" dirty="0"/>
          </a:p>
        </p:txBody>
      </p:sp>
      <p:sp>
        <p:nvSpPr>
          <p:cNvPr id="10" name="privacy body 1"/>
          <p:cNvSpPr txBox="1"/>
          <p:nvPr/>
        </p:nvSpPr>
        <p:spPr>
          <a:xfrm>
            <a:off x="1234440" y="5303520"/>
            <a:ext cx="2011680" cy="502920"/>
          </a:xfrm>
          <a:prstGeom prst="rect">
            <a:avLst/>
          </a:prstGeom>
          <a:noFill/>
          <a:ln/>
        </p:spPr>
        <p:txBody>
          <a:bodyPr wrap="square" lIns="0" tIns="0" rIns="0" bIns="0" rtlCol="0" anchor="t"/>
          <a:lstStyle/>
          <a:p>
            <a:pPr indent="0" marL="0">
              <a:buNone/>
            </a:pPr>
            <a:r>
              <a:rPr lang="en-US" sz="1300" dirty="0">
                <a:solidFill>
                  <a:schemeClr val="tx1"/>
                </a:solidFill>
              </a:rPr>
              <a:t>numbers out, never a frame</a:t>
            </a:r>
            <a:endParaRPr lang="en-US" sz="1300" dirty="0"/>
          </a:p>
        </p:txBody>
      </p:sp>
      <p:sp>
        <p:nvSpPr>
          <p:cNvPr id="11" name="privacy rule 2 dot"/>
          <p:cNvSpPr/>
          <p:nvPr/>
        </p:nvSpPr>
        <p:spPr>
          <a:xfrm>
            <a:off x="3367735" y="5029200"/>
            <a:ext cx="548640" cy="548640"/>
          </a:xfrm>
          <a:prstGeom prst="ellipse">
            <a:avLst/>
          </a:prstGeom>
          <a:solidFill>
            <a:schemeClr val="tx2"/>
          </a:solidFill>
          <a:ln w="12700">
            <a:solidFill>
              <a:schemeClr val="tx2"/>
            </a:solidFill>
            <a:prstDash val="solid"/>
          </a:ln>
        </p:spPr>
      </p:sp>
      <p:pic>
        <p:nvPicPr>
          <p:cNvPr id="12" name="privacy rule 2 icon" descr="preencoded.png">    </p:cNvPr>
          <p:cNvPicPr>
            <a:picLocks noChangeAspect="1"/>
          </p:cNvPicPr>
          <p:nvPr/>
        </p:nvPicPr>
        <p:blipFill>
          <a:blip r:embed="rId4"/>
          <a:stretch>
            <a:fillRect/>
          </a:stretch>
        </p:blipFill>
        <p:spPr>
          <a:xfrm>
            <a:off x="3504895" y="5166360"/>
            <a:ext cx="274320" cy="274320"/>
          </a:xfrm>
          <a:prstGeom prst="rect">
            <a:avLst/>
          </a:prstGeom>
        </p:spPr>
      </p:pic>
      <p:sp>
        <p:nvSpPr>
          <p:cNvPr id="13" name="privacy title 2"/>
          <p:cNvSpPr txBox="1"/>
          <p:nvPr/>
        </p:nvSpPr>
        <p:spPr>
          <a:xfrm>
            <a:off x="4053535" y="4983480"/>
            <a:ext cx="2011680" cy="320040"/>
          </a:xfrm>
          <a:prstGeom prst="rect">
            <a:avLst/>
          </a:prstGeom>
          <a:noFill/>
          <a:ln/>
        </p:spPr>
        <p:txBody>
          <a:bodyPr wrap="square" lIns="0" tIns="0" rIns="0" bIns="0" rtlCol="0" anchor="ctr"/>
          <a:lstStyle/>
          <a:p>
            <a:pPr indent="0" marL="0">
              <a:buNone/>
            </a:pPr>
            <a:r>
              <a:rPr lang="en-US" sz="1500" b="1" dirty="0">
                <a:solidFill>
                  <a:schemeClr val="tx2"/>
                </a:solidFill>
              </a:rPr>
              <a:t>Dash cam</a:t>
            </a:r>
            <a:endParaRPr lang="en-US" sz="1500" dirty="0"/>
          </a:p>
        </p:txBody>
      </p:sp>
      <p:sp>
        <p:nvSpPr>
          <p:cNvPr id="14" name="privacy body 2"/>
          <p:cNvSpPr txBox="1"/>
          <p:nvPr/>
        </p:nvSpPr>
        <p:spPr>
          <a:xfrm>
            <a:off x="4053535" y="5303520"/>
            <a:ext cx="2011680" cy="502920"/>
          </a:xfrm>
          <a:prstGeom prst="rect">
            <a:avLst/>
          </a:prstGeom>
          <a:noFill/>
          <a:ln/>
        </p:spPr>
        <p:txBody>
          <a:bodyPr wrap="square" lIns="0" tIns="0" rIns="0" bIns="0" rtlCol="0" anchor="t"/>
          <a:lstStyle/>
          <a:p>
            <a:pPr indent="0" marL="0">
              <a:buNone/>
            </a:pPr>
            <a:r>
              <a:rPr lang="en-US" sz="1300" dirty="0">
                <a:solidFill>
                  <a:schemeClr val="tx1"/>
                </a:solidFill>
              </a:rPr>
              <a:t>blurred, or no picture at all</a:t>
            </a:r>
            <a:endParaRPr lang="en-US" sz="1300" dirty="0"/>
          </a:p>
        </p:txBody>
      </p:sp>
      <p:sp>
        <p:nvSpPr>
          <p:cNvPr id="15" name="privacy rule 3 dot"/>
          <p:cNvSpPr/>
          <p:nvPr/>
        </p:nvSpPr>
        <p:spPr>
          <a:xfrm>
            <a:off x="6186830" y="5029200"/>
            <a:ext cx="548640" cy="548640"/>
          </a:xfrm>
          <a:prstGeom prst="ellipse">
            <a:avLst/>
          </a:prstGeom>
          <a:solidFill>
            <a:schemeClr val="tx2"/>
          </a:solidFill>
          <a:ln w="12700">
            <a:solidFill>
              <a:schemeClr val="tx2"/>
            </a:solidFill>
            <a:prstDash val="solid"/>
          </a:ln>
        </p:spPr>
      </p:sp>
      <p:pic>
        <p:nvPicPr>
          <p:cNvPr id="16" name="privacy rule 3 icon" descr="preencoded.png">    </p:cNvPr>
          <p:cNvPicPr>
            <a:picLocks noChangeAspect="1"/>
          </p:cNvPicPr>
          <p:nvPr/>
        </p:nvPicPr>
        <p:blipFill>
          <a:blip r:embed="rId5"/>
          <a:stretch>
            <a:fillRect/>
          </a:stretch>
        </p:blipFill>
        <p:spPr>
          <a:xfrm>
            <a:off x="6323990" y="5166360"/>
            <a:ext cx="274320" cy="274320"/>
          </a:xfrm>
          <a:prstGeom prst="rect">
            <a:avLst/>
          </a:prstGeom>
        </p:spPr>
      </p:pic>
      <p:sp>
        <p:nvSpPr>
          <p:cNvPr id="17" name="privacy title 3"/>
          <p:cNvSpPr txBox="1"/>
          <p:nvPr/>
        </p:nvSpPr>
        <p:spPr>
          <a:xfrm>
            <a:off x="6872630" y="4983480"/>
            <a:ext cx="2011680" cy="320040"/>
          </a:xfrm>
          <a:prstGeom prst="rect">
            <a:avLst/>
          </a:prstGeom>
          <a:noFill/>
          <a:ln/>
        </p:spPr>
        <p:txBody>
          <a:bodyPr wrap="square" lIns="0" tIns="0" rIns="0" bIns="0" rtlCol="0" anchor="ctr"/>
          <a:lstStyle/>
          <a:p>
            <a:pPr indent="0" marL="0">
              <a:buNone/>
            </a:pPr>
            <a:r>
              <a:rPr lang="en-US" sz="1500" b="1" dirty="0">
                <a:solidFill>
                  <a:schemeClr val="tx2"/>
                </a:solidFill>
              </a:rPr>
              <a:t>Microphone</a:t>
            </a:r>
            <a:endParaRPr lang="en-US" sz="1500" dirty="0"/>
          </a:p>
        </p:txBody>
      </p:sp>
      <p:sp>
        <p:nvSpPr>
          <p:cNvPr id="18" name="privacy body 3"/>
          <p:cNvSpPr txBox="1"/>
          <p:nvPr/>
        </p:nvSpPr>
        <p:spPr>
          <a:xfrm>
            <a:off x="6872630" y="5303520"/>
            <a:ext cx="2011680" cy="502920"/>
          </a:xfrm>
          <a:prstGeom prst="rect">
            <a:avLst/>
          </a:prstGeom>
          <a:noFill/>
          <a:ln/>
        </p:spPr>
        <p:txBody>
          <a:bodyPr wrap="square" lIns="0" tIns="0" rIns="0" bIns="0" rtlCol="0" anchor="t"/>
          <a:lstStyle/>
          <a:p>
            <a:pPr indent="0" marL="0">
              <a:buNone/>
            </a:pPr>
            <a:r>
              <a:rPr lang="en-US" sz="1300" dirty="0">
                <a:solidFill>
                  <a:schemeClr val="tx1"/>
                </a:solidFill>
              </a:rPr>
              <a:t>only while Talk is held</a:t>
            </a:r>
            <a:endParaRPr lang="en-US" sz="1300" dirty="0"/>
          </a:p>
        </p:txBody>
      </p:sp>
      <p:sp>
        <p:nvSpPr>
          <p:cNvPr id="19" name="privacy rule 4 dot"/>
          <p:cNvSpPr/>
          <p:nvPr/>
        </p:nvSpPr>
        <p:spPr>
          <a:xfrm>
            <a:off x="9005926" y="5029200"/>
            <a:ext cx="548640" cy="548640"/>
          </a:xfrm>
          <a:prstGeom prst="ellipse">
            <a:avLst/>
          </a:prstGeom>
          <a:solidFill>
            <a:schemeClr val="tx2"/>
          </a:solidFill>
          <a:ln w="12700">
            <a:solidFill>
              <a:schemeClr val="tx2"/>
            </a:solidFill>
            <a:prstDash val="solid"/>
          </a:ln>
        </p:spPr>
      </p:sp>
      <p:pic>
        <p:nvPicPr>
          <p:cNvPr id="20" name="privacy rule 4 icon" descr="preencoded.png">    </p:cNvPr>
          <p:cNvPicPr>
            <a:picLocks noChangeAspect="1"/>
          </p:cNvPicPr>
          <p:nvPr/>
        </p:nvPicPr>
        <p:blipFill>
          <a:blip r:embed="rId6"/>
          <a:stretch>
            <a:fillRect/>
          </a:stretch>
        </p:blipFill>
        <p:spPr>
          <a:xfrm>
            <a:off x="9143086" y="5166360"/>
            <a:ext cx="274320" cy="274320"/>
          </a:xfrm>
          <a:prstGeom prst="rect">
            <a:avLst/>
          </a:prstGeom>
        </p:spPr>
      </p:pic>
      <p:sp>
        <p:nvSpPr>
          <p:cNvPr id="21" name="privacy title 4"/>
          <p:cNvSpPr txBox="1"/>
          <p:nvPr/>
        </p:nvSpPr>
        <p:spPr>
          <a:xfrm>
            <a:off x="9691726" y="4983480"/>
            <a:ext cx="2011680" cy="320040"/>
          </a:xfrm>
          <a:prstGeom prst="rect">
            <a:avLst/>
          </a:prstGeom>
          <a:noFill/>
          <a:ln/>
        </p:spPr>
        <p:txBody>
          <a:bodyPr wrap="square" lIns="0" tIns="0" rIns="0" bIns="0" rtlCol="0" anchor="ctr"/>
          <a:lstStyle/>
          <a:p>
            <a:pPr indent="0" marL="0">
              <a:buNone/>
            </a:pPr>
            <a:r>
              <a:rPr lang="en-US" sz="1500" b="1" dirty="0">
                <a:solidFill>
                  <a:schemeClr val="tx2"/>
                </a:solidFill>
              </a:rPr>
              <a:t>Location</a:t>
            </a:r>
            <a:endParaRPr lang="en-US" sz="1500" dirty="0"/>
          </a:p>
        </p:txBody>
      </p:sp>
      <p:sp>
        <p:nvSpPr>
          <p:cNvPr id="22" name="privacy body 4"/>
          <p:cNvSpPr txBox="1"/>
          <p:nvPr/>
        </p:nvSpPr>
        <p:spPr>
          <a:xfrm>
            <a:off x="9691726" y="5303520"/>
            <a:ext cx="2011680" cy="502920"/>
          </a:xfrm>
          <a:prstGeom prst="rect">
            <a:avLst/>
          </a:prstGeom>
          <a:noFill/>
          <a:ln/>
        </p:spPr>
        <p:txBody>
          <a:bodyPr wrap="square" lIns="0" tIns="0" rIns="0" bIns="0" rtlCol="0" anchor="t"/>
          <a:lstStyle/>
          <a:p>
            <a:pPr indent="0" marL="0">
              <a:buNone/>
            </a:pPr>
            <a:r>
              <a:rPr lang="en-US" sz="1300" dirty="0">
                <a:solidFill>
                  <a:schemeClr val="tx1"/>
                </a:solidFill>
              </a:rPr>
              <a:t>only with consent</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What is new</a:t>
            </a:r>
            <a:endParaRPr lang="en-US" sz="3200" dirty="0"/>
          </a:p>
        </p:txBody>
      </p:sp>
      <p:sp>
        <p:nvSpPr>
          <p:cNvPr id="3" name="new card 1"/>
          <p:cNvSpPr/>
          <p:nvPr/>
        </p:nvSpPr>
        <p:spPr>
          <a:xfrm>
            <a:off x="548640" y="1371600"/>
            <a:ext cx="3520440" cy="1463040"/>
          </a:xfrm>
          <a:prstGeom prst="roundRect">
            <a:avLst>
              <a:gd name="adj" fmla="val 5000"/>
            </a:avLst>
          </a:prstGeom>
          <a:solidFill>
            <a:schemeClr val="bg2"/>
          </a:solidFill>
          <a:ln w="12700">
            <a:solidFill>
              <a:schemeClr val="bg2"/>
            </a:solidFill>
            <a:prstDash val="solid"/>
          </a:ln>
        </p:spPr>
      </p:sp>
      <p:sp>
        <p:nvSpPr>
          <p:cNvPr id="4" name="new card 1 dot"/>
          <p:cNvSpPr/>
          <p:nvPr/>
        </p:nvSpPr>
        <p:spPr>
          <a:xfrm>
            <a:off x="731520" y="1572768"/>
            <a:ext cx="502920" cy="502920"/>
          </a:xfrm>
          <a:prstGeom prst="ellipse">
            <a:avLst/>
          </a:prstGeom>
          <a:solidFill>
            <a:schemeClr val="tx2"/>
          </a:solidFill>
          <a:ln w="12700">
            <a:solidFill>
              <a:schemeClr val="tx2"/>
            </a:solidFill>
            <a:prstDash val="solid"/>
          </a:ln>
        </p:spPr>
      </p:sp>
      <p:pic>
        <p:nvPicPr>
          <p:cNvPr id="5" name="new card 1 icon" descr="preencoded.png">    </p:cNvPr>
          <p:cNvPicPr>
            <a:picLocks noChangeAspect="1"/>
          </p:cNvPicPr>
          <p:nvPr/>
        </p:nvPicPr>
        <p:blipFill>
          <a:blip r:embed="rId1"/>
          <a:stretch>
            <a:fillRect/>
          </a:stretch>
        </p:blipFill>
        <p:spPr>
          <a:xfrm>
            <a:off x="857250" y="1698498"/>
            <a:ext cx="251460" cy="251460"/>
          </a:xfrm>
          <a:prstGeom prst="rect">
            <a:avLst/>
          </a:prstGeom>
        </p:spPr>
      </p:pic>
      <p:sp>
        <p:nvSpPr>
          <p:cNvPr id="6" name="new title 1"/>
          <p:cNvSpPr txBox="1"/>
          <p:nvPr/>
        </p:nvSpPr>
        <p:spPr>
          <a:xfrm>
            <a:off x="1371600" y="155448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Allow(q), executed</a:t>
            </a:r>
            <a:endParaRPr lang="en-US" sz="1500" dirty="0"/>
          </a:p>
        </p:txBody>
      </p:sp>
      <p:sp>
        <p:nvSpPr>
          <p:cNvPr id="7" name="new body 1"/>
          <p:cNvSpPr txBox="1"/>
          <p:nvPr/>
        </p:nvSpPr>
        <p:spPr>
          <a:xfrm>
            <a:off x="1371600" y="1938528"/>
            <a:ext cx="2514600" cy="502920"/>
          </a:xfrm>
          <a:prstGeom prst="rect">
            <a:avLst/>
          </a:prstGeom>
          <a:noFill/>
          <a:ln/>
        </p:spPr>
        <p:txBody>
          <a:bodyPr wrap="square" lIns="0" tIns="0" rIns="0" bIns="0" rtlCol="0" anchor="t"/>
          <a:lstStyle/>
          <a:p>
            <a:pPr indent="0" marL="0">
              <a:buNone/>
            </a:pPr>
            <a:r>
              <a:rPr lang="en-US" sz="1200" dirty="0">
                <a:solidFill>
                  <a:schemeClr val="tx1"/>
                </a:solidFill>
              </a:rPr>
              <a:t>8 conjuncts, each made to deny on every run</a:t>
            </a:r>
            <a:endParaRPr lang="en-US" sz="1200" dirty="0"/>
          </a:p>
        </p:txBody>
      </p:sp>
      <p:sp>
        <p:nvSpPr>
          <p:cNvPr id="8" name="new chip 1"/>
          <p:cNvSpPr txBox="1"/>
          <p:nvPr/>
        </p:nvSpPr>
        <p:spPr>
          <a:xfrm>
            <a:off x="1371600" y="245059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8/8</a:t>
            </a:r>
            <a:endParaRPr lang="en-US" sz="1000" dirty="0"/>
          </a:p>
        </p:txBody>
      </p:sp>
      <p:sp>
        <p:nvSpPr>
          <p:cNvPr id="9" name="new card 2"/>
          <p:cNvSpPr/>
          <p:nvPr/>
        </p:nvSpPr>
        <p:spPr>
          <a:xfrm>
            <a:off x="4335628" y="1371600"/>
            <a:ext cx="3520440" cy="1463040"/>
          </a:xfrm>
          <a:prstGeom prst="roundRect">
            <a:avLst>
              <a:gd name="adj" fmla="val 5000"/>
            </a:avLst>
          </a:prstGeom>
          <a:solidFill>
            <a:schemeClr val="bg2"/>
          </a:solidFill>
          <a:ln w="12700">
            <a:solidFill>
              <a:schemeClr val="bg2"/>
            </a:solidFill>
            <a:prstDash val="solid"/>
          </a:ln>
        </p:spPr>
      </p:sp>
      <p:sp>
        <p:nvSpPr>
          <p:cNvPr id="10" name="new card 2 dot"/>
          <p:cNvSpPr/>
          <p:nvPr/>
        </p:nvSpPr>
        <p:spPr>
          <a:xfrm>
            <a:off x="4518508" y="1572768"/>
            <a:ext cx="502920" cy="502920"/>
          </a:xfrm>
          <a:prstGeom prst="ellipse">
            <a:avLst/>
          </a:prstGeom>
          <a:solidFill>
            <a:schemeClr val="tx2"/>
          </a:solidFill>
          <a:ln w="12700">
            <a:solidFill>
              <a:schemeClr val="tx2"/>
            </a:solidFill>
            <a:prstDash val="solid"/>
          </a:ln>
        </p:spPr>
      </p:sp>
      <p:pic>
        <p:nvPicPr>
          <p:cNvPr id="11" name="new card 2 icon" descr="preencoded.png">    </p:cNvPr>
          <p:cNvPicPr>
            <a:picLocks noChangeAspect="1"/>
          </p:cNvPicPr>
          <p:nvPr/>
        </p:nvPicPr>
        <p:blipFill>
          <a:blip r:embed="rId2"/>
          <a:stretch>
            <a:fillRect/>
          </a:stretch>
        </p:blipFill>
        <p:spPr>
          <a:xfrm>
            <a:off x="4644238" y="1698498"/>
            <a:ext cx="251460" cy="251460"/>
          </a:xfrm>
          <a:prstGeom prst="rect">
            <a:avLst/>
          </a:prstGeom>
        </p:spPr>
      </p:pic>
      <p:sp>
        <p:nvSpPr>
          <p:cNvPr id="12" name="new title 2"/>
          <p:cNvSpPr txBox="1"/>
          <p:nvPr/>
        </p:nvSpPr>
        <p:spPr>
          <a:xfrm>
            <a:off x="5158588" y="155448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MHS hardware layer</a:t>
            </a:r>
            <a:endParaRPr lang="en-US" sz="1500" dirty="0"/>
          </a:p>
        </p:txBody>
      </p:sp>
      <p:sp>
        <p:nvSpPr>
          <p:cNvPr id="13" name="new body 2"/>
          <p:cNvSpPr txBox="1"/>
          <p:nvPr/>
        </p:nvSpPr>
        <p:spPr>
          <a:xfrm>
            <a:off x="5158588" y="1938528"/>
            <a:ext cx="2514600" cy="502920"/>
          </a:xfrm>
          <a:prstGeom prst="rect">
            <a:avLst/>
          </a:prstGeom>
          <a:noFill/>
          <a:ln/>
        </p:spPr>
        <p:txBody>
          <a:bodyPr wrap="square" lIns="0" tIns="0" rIns="0" bIns="0" rtlCol="0" anchor="t"/>
          <a:lstStyle/>
          <a:p>
            <a:pPr indent="0" marL="0">
              <a:buNone/>
            </a:pPr>
            <a:r>
              <a:rPr lang="en-US" sz="1200" dirty="0">
                <a:solidFill>
                  <a:schemeClr val="tx1"/>
                </a:solidFill>
              </a:rPr>
              <a:t>hardware as checked data; cannot mint authority</a:t>
            </a:r>
            <a:endParaRPr lang="en-US" sz="1200" dirty="0"/>
          </a:p>
        </p:txBody>
      </p:sp>
      <p:sp>
        <p:nvSpPr>
          <p:cNvPr id="14" name="new chip 2"/>
          <p:cNvSpPr txBox="1"/>
          <p:nvPr/>
        </p:nvSpPr>
        <p:spPr>
          <a:xfrm>
            <a:off x="5158588" y="245059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481 tests</a:t>
            </a:r>
            <a:endParaRPr lang="en-US" sz="1000" dirty="0"/>
          </a:p>
        </p:txBody>
      </p:sp>
      <p:sp>
        <p:nvSpPr>
          <p:cNvPr id="15" name="new card 3"/>
          <p:cNvSpPr/>
          <p:nvPr/>
        </p:nvSpPr>
        <p:spPr>
          <a:xfrm>
            <a:off x="8122615" y="1371600"/>
            <a:ext cx="3520440" cy="1463040"/>
          </a:xfrm>
          <a:prstGeom prst="roundRect">
            <a:avLst>
              <a:gd name="adj" fmla="val 5000"/>
            </a:avLst>
          </a:prstGeom>
          <a:solidFill>
            <a:schemeClr val="bg2"/>
          </a:solidFill>
          <a:ln w="12700">
            <a:solidFill>
              <a:schemeClr val="bg2"/>
            </a:solidFill>
            <a:prstDash val="solid"/>
          </a:ln>
        </p:spPr>
      </p:sp>
      <p:sp>
        <p:nvSpPr>
          <p:cNvPr id="16" name="new card 3 dot"/>
          <p:cNvSpPr/>
          <p:nvPr/>
        </p:nvSpPr>
        <p:spPr>
          <a:xfrm>
            <a:off x="8305495" y="1572768"/>
            <a:ext cx="502920" cy="502920"/>
          </a:xfrm>
          <a:prstGeom prst="ellipse">
            <a:avLst/>
          </a:prstGeom>
          <a:solidFill>
            <a:schemeClr val="tx2"/>
          </a:solidFill>
          <a:ln w="12700">
            <a:solidFill>
              <a:schemeClr val="tx2"/>
            </a:solidFill>
            <a:prstDash val="solid"/>
          </a:ln>
        </p:spPr>
      </p:sp>
      <p:pic>
        <p:nvPicPr>
          <p:cNvPr id="17" name="new card 3 icon" descr="preencoded.png">    </p:cNvPr>
          <p:cNvPicPr>
            <a:picLocks noChangeAspect="1"/>
          </p:cNvPicPr>
          <p:nvPr/>
        </p:nvPicPr>
        <p:blipFill>
          <a:blip r:embed="rId3"/>
          <a:stretch>
            <a:fillRect/>
          </a:stretch>
        </p:blipFill>
        <p:spPr>
          <a:xfrm>
            <a:off x="8431225" y="1698498"/>
            <a:ext cx="251460" cy="251460"/>
          </a:xfrm>
          <a:prstGeom prst="rect">
            <a:avLst/>
          </a:prstGeom>
        </p:spPr>
      </p:pic>
      <p:sp>
        <p:nvSpPr>
          <p:cNvPr id="18" name="new title 3"/>
          <p:cNvSpPr txBox="1"/>
          <p:nvPr/>
        </p:nvSpPr>
        <p:spPr>
          <a:xfrm>
            <a:off x="8945575" y="155448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Refusal by name</a:t>
            </a:r>
            <a:endParaRPr lang="en-US" sz="1500" dirty="0"/>
          </a:p>
        </p:txBody>
      </p:sp>
      <p:sp>
        <p:nvSpPr>
          <p:cNvPr id="19" name="new body 3"/>
          <p:cNvSpPr txBox="1"/>
          <p:nvPr/>
        </p:nvSpPr>
        <p:spPr>
          <a:xfrm>
            <a:off x="8945575" y="1938528"/>
            <a:ext cx="2514600" cy="502920"/>
          </a:xfrm>
          <a:prstGeom prst="rect">
            <a:avLst/>
          </a:prstGeom>
          <a:noFill/>
          <a:ln/>
        </p:spPr>
        <p:txBody>
          <a:bodyPr wrap="square" lIns="0" tIns="0" rIns="0" bIns="0" rtlCol="0" anchor="t"/>
          <a:lstStyle/>
          <a:p>
            <a:pPr indent="0" marL="0">
              <a:buNone/>
            </a:pPr>
            <a:r>
              <a:rPr lang="en-US" sz="1200" dirty="0">
                <a:solidFill>
                  <a:schemeClr val="tx1"/>
                </a:solidFill>
              </a:rPr>
              <a:t>safety-critical names exist only to be refused</a:t>
            </a:r>
            <a:endParaRPr lang="en-US" sz="1200" dirty="0"/>
          </a:p>
        </p:txBody>
      </p:sp>
      <p:sp>
        <p:nvSpPr>
          <p:cNvPr id="20" name="new chip 3"/>
          <p:cNvSpPr txBox="1"/>
          <p:nvPr/>
        </p:nvSpPr>
        <p:spPr>
          <a:xfrm>
            <a:off x="8945575" y="245059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built</a:t>
            </a:r>
            <a:endParaRPr lang="en-US" sz="1000" dirty="0"/>
          </a:p>
        </p:txBody>
      </p:sp>
      <p:sp>
        <p:nvSpPr>
          <p:cNvPr id="21" name="new card 4"/>
          <p:cNvSpPr/>
          <p:nvPr/>
        </p:nvSpPr>
        <p:spPr>
          <a:xfrm>
            <a:off x="548640" y="3017520"/>
            <a:ext cx="3520440" cy="1463040"/>
          </a:xfrm>
          <a:prstGeom prst="roundRect">
            <a:avLst>
              <a:gd name="adj" fmla="val 5000"/>
            </a:avLst>
          </a:prstGeom>
          <a:solidFill>
            <a:schemeClr val="bg2"/>
          </a:solidFill>
          <a:ln w="12700">
            <a:solidFill>
              <a:schemeClr val="bg2"/>
            </a:solidFill>
            <a:prstDash val="solid"/>
          </a:ln>
        </p:spPr>
      </p:sp>
      <p:sp>
        <p:nvSpPr>
          <p:cNvPr id="22" name="new card 4 dot"/>
          <p:cNvSpPr/>
          <p:nvPr/>
        </p:nvSpPr>
        <p:spPr>
          <a:xfrm>
            <a:off x="731520" y="3218688"/>
            <a:ext cx="502920" cy="502920"/>
          </a:xfrm>
          <a:prstGeom prst="ellipse">
            <a:avLst/>
          </a:prstGeom>
          <a:solidFill>
            <a:schemeClr val="tx2"/>
          </a:solidFill>
          <a:ln w="12700">
            <a:solidFill>
              <a:schemeClr val="tx2"/>
            </a:solidFill>
            <a:prstDash val="solid"/>
          </a:ln>
        </p:spPr>
      </p:sp>
      <p:pic>
        <p:nvPicPr>
          <p:cNvPr id="23" name="new card 4 icon" descr="preencoded.png">    </p:cNvPr>
          <p:cNvPicPr>
            <a:picLocks noChangeAspect="1"/>
          </p:cNvPicPr>
          <p:nvPr/>
        </p:nvPicPr>
        <p:blipFill>
          <a:blip r:embed="rId4"/>
          <a:stretch>
            <a:fillRect/>
          </a:stretch>
        </p:blipFill>
        <p:spPr>
          <a:xfrm>
            <a:off x="857250" y="3344418"/>
            <a:ext cx="251460" cy="251460"/>
          </a:xfrm>
          <a:prstGeom prst="rect">
            <a:avLst/>
          </a:prstGeom>
        </p:spPr>
      </p:pic>
      <p:sp>
        <p:nvSpPr>
          <p:cNvPr id="24" name="new title 4"/>
          <p:cNvSpPr txBox="1"/>
          <p:nvPr/>
        </p:nvSpPr>
        <p:spPr>
          <a:xfrm>
            <a:off x="1371600" y="320040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Derived-state sensing</a:t>
            </a:r>
            <a:endParaRPr lang="en-US" sz="1500" dirty="0"/>
          </a:p>
        </p:txBody>
      </p:sp>
      <p:sp>
        <p:nvSpPr>
          <p:cNvPr id="25" name="new body 4"/>
          <p:cNvSpPr txBox="1"/>
          <p:nvPr/>
        </p:nvSpPr>
        <p:spPr>
          <a:xfrm>
            <a:off x="1371600" y="3584448"/>
            <a:ext cx="2514600" cy="502920"/>
          </a:xfrm>
          <a:prstGeom prst="rect">
            <a:avLst/>
          </a:prstGeom>
          <a:noFill/>
          <a:ln/>
        </p:spPr>
        <p:txBody>
          <a:bodyPr wrap="square" lIns="0" tIns="0" rIns="0" bIns="0" rtlCol="0" anchor="t"/>
          <a:lstStyle/>
          <a:p>
            <a:pPr indent="0" marL="0">
              <a:buNone/>
            </a:pPr>
            <a:r>
              <a:rPr lang="en-US" sz="1200" dirty="0">
                <a:solidFill>
                  <a:schemeClr val="tx1"/>
                </a:solidFill>
              </a:rPr>
              <a:t>the driver camera emits numbers, never frames</a:t>
            </a:r>
            <a:endParaRPr lang="en-US" sz="1200" dirty="0"/>
          </a:p>
        </p:txBody>
      </p:sp>
      <p:sp>
        <p:nvSpPr>
          <p:cNvPr id="26" name="new chip 4"/>
          <p:cNvSpPr txBox="1"/>
          <p:nvPr/>
        </p:nvSpPr>
        <p:spPr>
          <a:xfrm>
            <a:off x="1371600" y="409651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in the car</a:t>
            </a:r>
            <a:endParaRPr lang="en-US" sz="1000" dirty="0"/>
          </a:p>
        </p:txBody>
      </p:sp>
      <p:sp>
        <p:nvSpPr>
          <p:cNvPr id="27" name="new card 5"/>
          <p:cNvSpPr/>
          <p:nvPr/>
        </p:nvSpPr>
        <p:spPr>
          <a:xfrm>
            <a:off x="4335628" y="3017520"/>
            <a:ext cx="3520440" cy="1463040"/>
          </a:xfrm>
          <a:prstGeom prst="roundRect">
            <a:avLst>
              <a:gd name="adj" fmla="val 5000"/>
            </a:avLst>
          </a:prstGeom>
          <a:solidFill>
            <a:schemeClr val="bg2"/>
          </a:solidFill>
          <a:ln w="12700">
            <a:solidFill>
              <a:schemeClr val="bg2"/>
            </a:solidFill>
            <a:prstDash val="solid"/>
          </a:ln>
        </p:spPr>
      </p:sp>
      <p:sp>
        <p:nvSpPr>
          <p:cNvPr id="28" name="new card 5 dot"/>
          <p:cNvSpPr/>
          <p:nvPr/>
        </p:nvSpPr>
        <p:spPr>
          <a:xfrm>
            <a:off x="4518508" y="3218688"/>
            <a:ext cx="502920" cy="502920"/>
          </a:xfrm>
          <a:prstGeom prst="ellipse">
            <a:avLst/>
          </a:prstGeom>
          <a:solidFill>
            <a:schemeClr val="tx2"/>
          </a:solidFill>
          <a:ln w="12700">
            <a:solidFill>
              <a:schemeClr val="tx2"/>
            </a:solidFill>
            <a:prstDash val="solid"/>
          </a:ln>
        </p:spPr>
      </p:sp>
      <p:pic>
        <p:nvPicPr>
          <p:cNvPr id="29" name="new card 5 icon" descr="preencoded.png">    </p:cNvPr>
          <p:cNvPicPr>
            <a:picLocks noChangeAspect="1"/>
          </p:cNvPicPr>
          <p:nvPr/>
        </p:nvPicPr>
        <p:blipFill>
          <a:blip r:embed="rId5"/>
          <a:stretch>
            <a:fillRect/>
          </a:stretch>
        </p:blipFill>
        <p:spPr>
          <a:xfrm>
            <a:off x="4644238" y="3344418"/>
            <a:ext cx="251460" cy="251460"/>
          </a:xfrm>
          <a:prstGeom prst="rect">
            <a:avLst/>
          </a:prstGeom>
        </p:spPr>
      </p:pic>
      <p:sp>
        <p:nvSpPr>
          <p:cNvPr id="30" name="new title 5"/>
          <p:cNvSpPr txBox="1"/>
          <p:nvPr/>
        </p:nvSpPr>
        <p:spPr>
          <a:xfrm>
            <a:off x="5158588" y="320040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Privacy-first road view</a:t>
            </a:r>
            <a:endParaRPr lang="en-US" sz="1500" dirty="0"/>
          </a:p>
        </p:txBody>
      </p:sp>
      <p:sp>
        <p:nvSpPr>
          <p:cNvPr id="31" name="new body 5"/>
          <p:cNvSpPr txBox="1"/>
          <p:nvPr/>
        </p:nvSpPr>
        <p:spPr>
          <a:xfrm>
            <a:off x="5158588" y="3584448"/>
            <a:ext cx="2514600" cy="502920"/>
          </a:xfrm>
          <a:prstGeom prst="rect">
            <a:avLst/>
          </a:prstGeom>
          <a:noFill/>
          <a:ln/>
        </p:spPr>
        <p:txBody>
          <a:bodyPr wrap="square" lIns="0" tIns="0" rIns="0" bIns="0" rtlCol="0" anchor="t"/>
          <a:lstStyle/>
          <a:p>
            <a:pPr indent="0" marL="0">
              <a:buNone/>
            </a:pPr>
            <a:r>
              <a:rPr lang="en-US" sz="1200" dirty="0">
                <a:solidFill>
                  <a:schemeClr val="tx1"/>
                </a:solidFill>
              </a:rPr>
              <a:t>no blur means no picture</a:t>
            </a:r>
            <a:endParaRPr lang="en-US" sz="1200" dirty="0"/>
          </a:p>
        </p:txBody>
      </p:sp>
      <p:sp>
        <p:nvSpPr>
          <p:cNvPr id="32" name="new chip 5"/>
          <p:cNvSpPr txBox="1"/>
          <p:nvPr/>
        </p:nvSpPr>
        <p:spPr>
          <a:xfrm>
            <a:off x="5158588" y="409651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in the car</a:t>
            </a:r>
            <a:endParaRPr lang="en-US" sz="1000" dirty="0"/>
          </a:p>
        </p:txBody>
      </p:sp>
      <p:sp>
        <p:nvSpPr>
          <p:cNvPr id="33" name="new card 6"/>
          <p:cNvSpPr/>
          <p:nvPr/>
        </p:nvSpPr>
        <p:spPr>
          <a:xfrm>
            <a:off x="8122615" y="3017520"/>
            <a:ext cx="3520440" cy="1463040"/>
          </a:xfrm>
          <a:prstGeom prst="roundRect">
            <a:avLst>
              <a:gd name="adj" fmla="val 5000"/>
            </a:avLst>
          </a:prstGeom>
          <a:solidFill>
            <a:schemeClr val="bg2"/>
          </a:solidFill>
          <a:ln w="12700">
            <a:solidFill>
              <a:schemeClr val="bg2"/>
            </a:solidFill>
            <a:prstDash val="solid"/>
          </a:ln>
        </p:spPr>
      </p:sp>
      <p:sp>
        <p:nvSpPr>
          <p:cNvPr id="34" name="new card 6 dot"/>
          <p:cNvSpPr/>
          <p:nvPr/>
        </p:nvSpPr>
        <p:spPr>
          <a:xfrm>
            <a:off x="8305495" y="3218688"/>
            <a:ext cx="502920" cy="502920"/>
          </a:xfrm>
          <a:prstGeom prst="ellipse">
            <a:avLst/>
          </a:prstGeom>
          <a:solidFill>
            <a:schemeClr val="tx2"/>
          </a:solidFill>
          <a:ln w="12700">
            <a:solidFill>
              <a:schemeClr val="tx2"/>
            </a:solidFill>
            <a:prstDash val="solid"/>
          </a:ln>
        </p:spPr>
      </p:sp>
      <p:pic>
        <p:nvPicPr>
          <p:cNvPr id="35" name="new card 6 icon" descr="preencoded.png">    </p:cNvPr>
          <p:cNvPicPr>
            <a:picLocks noChangeAspect="1"/>
          </p:cNvPicPr>
          <p:nvPr/>
        </p:nvPicPr>
        <p:blipFill>
          <a:blip r:embed="rId6"/>
          <a:stretch>
            <a:fillRect/>
          </a:stretch>
        </p:blipFill>
        <p:spPr>
          <a:xfrm>
            <a:off x="8431225" y="3344418"/>
            <a:ext cx="251460" cy="251460"/>
          </a:xfrm>
          <a:prstGeom prst="rect">
            <a:avLst/>
          </a:prstGeom>
        </p:spPr>
      </p:pic>
      <p:sp>
        <p:nvSpPr>
          <p:cNvPr id="36" name="new title 6"/>
          <p:cNvSpPr txBox="1"/>
          <p:nvPr/>
        </p:nvSpPr>
        <p:spPr>
          <a:xfrm>
            <a:off x="8945575" y="320040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Two paths</a:t>
            </a:r>
            <a:endParaRPr lang="en-US" sz="1500" dirty="0"/>
          </a:p>
        </p:txBody>
      </p:sp>
      <p:sp>
        <p:nvSpPr>
          <p:cNvPr id="37" name="new body 6"/>
          <p:cNvSpPr txBox="1"/>
          <p:nvPr/>
        </p:nvSpPr>
        <p:spPr>
          <a:xfrm>
            <a:off x="8945575" y="3584448"/>
            <a:ext cx="2514600" cy="502920"/>
          </a:xfrm>
          <a:prstGeom prst="rect">
            <a:avLst/>
          </a:prstGeom>
          <a:noFill/>
          <a:ln/>
        </p:spPr>
        <p:txBody>
          <a:bodyPr wrap="square" lIns="0" tIns="0" rIns="0" bIns="0" rtlCol="0" anchor="t"/>
          <a:lstStyle/>
          <a:p>
            <a:pPr indent="0" marL="0">
              <a:buNone/>
            </a:pPr>
            <a:r>
              <a:rPr lang="en-US" sz="1200" dirty="0">
                <a:solidFill>
                  <a:schemeClr val="tx1"/>
                </a:solidFill>
              </a:rPr>
              <a:t>alerts need no model; the agent never clears one</a:t>
            </a:r>
            <a:endParaRPr lang="en-US" sz="1200" dirty="0"/>
          </a:p>
        </p:txBody>
      </p:sp>
      <p:sp>
        <p:nvSpPr>
          <p:cNvPr id="38" name="new chip 6"/>
          <p:cNvSpPr txBox="1"/>
          <p:nvPr/>
        </p:nvSpPr>
        <p:spPr>
          <a:xfrm>
            <a:off x="8945575" y="409651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built</a:t>
            </a:r>
            <a:endParaRPr lang="en-US" sz="1000" dirty="0"/>
          </a:p>
        </p:txBody>
      </p:sp>
      <p:sp>
        <p:nvSpPr>
          <p:cNvPr id="39" name="new card 7"/>
          <p:cNvSpPr/>
          <p:nvPr/>
        </p:nvSpPr>
        <p:spPr>
          <a:xfrm>
            <a:off x="548640" y="4663440"/>
            <a:ext cx="3520440" cy="1463040"/>
          </a:xfrm>
          <a:prstGeom prst="roundRect">
            <a:avLst>
              <a:gd name="adj" fmla="val 5000"/>
            </a:avLst>
          </a:prstGeom>
          <a:solidFill>
            <a:schemeClr val="bg2"/>
          </a:solidFill>
          <a:ln w="12700">
            <a:solidFill>
              <a:schemeClr val="bg2"/>
            </a:solidFill>
            <a:prstDash val="solid"/>
          </a:ln>
        </p:spPr>
      </p:sp>
      <p:sp>
        <p:nvSpPr>
          <p:cNvPr id="40" name="new card 7 dot"/>
          <p:cNvSpPr/>
          <p:nvPr/>
        </p:nvSpPr>
        <p:spPr>
          <a:xfrm>
            <a:off x="731520" y="4864608"/>
            <a:ext cx="502920" cy="502920"/>
          </a:xfrm>
          <a:prstGeom prst="ellipse">
            <a:avLst/>
          </a:prstGeom>
          <a:solidFill>
            <a:schemeClr val="tx2"/>
          </a:solidFill>
          <a:ln w="12700">
            <a:solidFill>
              <a:schemeClr val="tx2"/>
            </a:solidFill>
            <a:prstDash val="solid"/>
          </a:ln>
        </p:spPr>
      </p:sp>
      <p:pic>
        <p:nvPicPr>
          <p:cNvPr id="41" name="new card 7 icon" descr="preencoded.png">    </p:cNvPr>
          <p:cNvPicPr>
            <a:picLocks noChangeAspect="1"/>
          </p:cNvPicPr>
          <p:nvPr/>
        </p:nvPicPr>
        <p:blipFill>
          <a:blip r:embed="rId7"/>
          <a:stretch>
            <a:fillRect/>
          </a:stretch>
        </p:blipFill>
        <p:spPr>
          <a:xfrm>
            <a:off x="857250" y="4990338"/>
            <a:ext cx="251460" cy="251460"/>
          </a:xfrm>
          <a:prstGeom prst="rect">
            <a:avLst/>
          </a:prstGeom>
        </p:spPr>
      </p:pic>
      <p:sp>
        <p:nvSpPr>
          <p:cNvPr id="42" name="new title 7"/>
          <p:cNvSpPr txBox="1"/>
          <p:nvPr/>
        </p:nvSpPr>
        <p:spPr>
          <a:xfrm>
            <a:off x="1371600" y="484632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Model as last resort</a:t>
            </a:r>
            <a:endParaRPr lang="en-US" sz="1500" dirty="0"/>
          </a:p>
        </p:txBody>
      </p:sp>
      <p:sp>
        <p:nvSpPr>
          <p:cNvPr id="43" name="new body 7"/>
          <p:cNvSpPr txBox="1"/>
          <p:nvPr/>
        </p:nvSpPr>
        <p:spPr>
          <a:xfrm>
            <a:off x="1371600" y="5230368"/>
            <a:ext cx="2514600" cy="502920"/>
          </a:xfrm>
          <a:prstGeom prst="rect">
            <a:avLst/>
          </a:prstGeom>
          <a:noFill/>
          <a:ln/>
        </p:spPr>
        <p:txBody>
          <a:bodyPr wrap="square" lIns="0" tIns="0" rIns="0" bIns="0" rtlCol="0" anchor="t"/>
          <a:lstStyle/>
          <a:p>
            <a:pPr indent="0" marL="0">
              <a:buNone/>
            </a:pPr>
            <a:r>
              <a:rPr lang="en-US" sz="1200" dirty="0">
                <a:solidFill>
                  <a:schemeClr val="tx1"/>
                </a:solidFill>
              </a:rPr>
              <a:t>~130 ms classifier (warm); 19.7 s → 0.86 s</a:t>
            </a:r>
            <a:endParaRPr lang="en-US" sz="1200" dirty="0"/>
          </a:p>
        </p:txBody>
      </p:sp>
      <p:sp>
        <p:nvSpPr>
          <p:cNvPr id="44" name="new chip 7"/>
          <p:cNvSpPr txBox="1"/>
          <p:nvPr/>
        </p:nvSpPr>
        <p:spPr>
          <a:xfrm>
            <a:off x="1371600" y="574243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12/12</a:t>
            </a:r>
            <a:endParaRPr lang="en-US" sz="1000" dirty="0"/>
          </a:p>
        </p:txBody>
      </p:sp>
      <p:sp>
        <p:nvSpPr>
          <p:cNvPr id="45" name="new card 8"/>
          <p:cNvSpPr/>
          <p:nvPr/>
        </p:nvSpPr>
        <p:spPr>
          <a:xfrm>
            <a:off x="4335628" y="4663440"/>
            <a:ext cx="3520440" cy="1463040"/>
          </a:xfrm>
          <a:prstGeom prst="roundRect">
            <a:avLst>
              <a:gd name="adj" fmla="val 5000"/>
            </a:avLst>
          </a:prstGeom>
          <a:solidFill>
            <a:schemeClr val="bg2"/>
          </a:solidFill>
          <a:ln w="12700">
            <a:solidFill>
              <a:schemeClr val="bg2"/>
            </a:solidFill>
            <a:prstDash val="solid"/>
          </a:ln>
        </p:spPr>
      </p:sp>
      <p:sp>
        <p:nvSpPr>
          <p:cNvPr id="46" name="new card 8 dot"/>
          <p:cNvSpPr/>
          <p:nvPr/>
        </p:nvSpPr>
        <p:spPr>
          <a:xfrm>
            <a:off x="4518508" y="4864608"/>
            <a:ext cx="502920" cy="502920"/>
          </a:xfrm>
          <a:prstGeom prst="ellipse">
            <a:avLst/>
          </a:prstGeom>
          <a:solidFill>
            <a:schemeClr val="tx2"/>
          </a:solidFill>
          <a:ln w="12700">
            <a:solidFill>
              <a:schemeClr val="tx2"/>
            </a:solidFill>
            <a:prstDash val="solid"/>
          </a:ln>
        </p:spPr>
      </p:sp>
      <p:pic>
        <p:nvPicPr>
          <p:cNvPr id="47" name="new card 8 icon" descr="preencoded.png">    </p:cNvPr>
          <p:cNvPicPr>
            <a:picLocks noChangeAspect="1"/>
          </p:cNvPicPr>
          <p:nvPr/>
        </p:nvPicPr>
        <p:blipFill>
          <a:blip r:embed="rId8"/>
          <a:stretch>
            <a:fillRect/>
          </a:stretch>
        </p:blipFill>
        <p:spPr>
          <a:xfrm>
            <a:off x="4644238" y="4990338"/>
            <a:ext cx="251460" cy="251460"/>
          </a:xfrm>
          <a:prstGeom prst="rect">
            <a:avLst/>
          </a:prstGeom>
        </p:spPr>
      </p:pic>
      <p:sp>
        <p:nvSpPr>
          <p:cNvPr id="48" name="new title 8"/>
          <p:cNvSpPr txBox="1"/>
          <p:nvPr/>
        </p:nvSpPr>
        <p:spPr>
          <a:xfrm>
            <a:off x="5158588" y="484632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Car audio arbiter</a:t>
            </a:r>
            <a:endParaRPr lang="en-US" sz="1500" dirty="0"/>
          </a:p>
        </p:txBody>
      </p:sp>
      <p:sp>
        <p:nvSpPr>
          <p:cNvPr id="49" name="new body 8"/>
          <p:cNvSpPr txBox="1"/>
          <p:nvPr/>
        </p:nvSpPr>
        <p:spPr>
          <a:xfrm>
            <a:off x="5158588" y="5230368"/>
            <a:ext cx="2514600" cy="502920"/>
          </a:xfrm>
          <a:prstGeom prst="rect">
            <a:avLst/>
          </a:prstGeom>
          <a:noFill/>
          <a:ln/>
        </p:spPr>
        <p:txBody>
          <a:bodyPr wrap="square" lIns="0" tIns="0" rIns="0" bIns="0" rtlCol="0" anchor="t"/>
          <a:lstStyle/>
          <a:p>
            <a:pPr indent="0" marL="0">
              <a:buNone/>
            </a:pPr>
            <a:r>
              <a:rPr lang="en-US" sz="1200" dirty="0">
                <a:solidFill>
                  <a:schemeClr val="tx1"/>
                </a:solidFill>
              </a:rPr>
              <a:t>a critical alert pre-empts an answer; repeats are rate-limited</a:t>
            </a:r>
            <a:endParaRPr lang="en-US" sz="1200" dirty="0"/>
          </a:p>
        </p:txBody>
      </p:sp>
      <p:sp>
        <p:nvSpPr>
          <p:cNvPr id="50" name="new chip 8"/>
          <p:cNvSpPr txBox="1"/>
          <p:nvPr/>
        </p:nvSpPr>
        <p:spPr>
          <a:xfrm>
            <a:off x="5158588" y="574243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shown in car</a:t>
            </a:r>
            <a:endParaRPr lang="en-US" sz="1000" dirty="0"/>
          </a:p>
        </p:txBody>
      </p:sp>
      <p:sp>
        <p:nvSpPr>
          <p:cNvPr id="51" name="new card 9"/>
          <p:cNvSpPr/>
          <p:nvPr/>
        </p:nvSpPr>
        <p:spPr>
          <a:xfrm>
            <a:off x="8122615" y="4663440"/>
            <a:ext cx="3520440" cy="1463040"/>
          </a:xfrm>
          <a:prstGeom prst="roundRect">
            <a:avLst>
              <a:gd name="adj" fmla="val 5000"/>
            </a:avLst>
          </a:prstGeom>
          <a:solidFill>
            <a:schemeClr val="bg2"/>
          </a:solidFill>
          <a:ln w="12700">
            <a:solidFill>
              <a:schemeClr val="bg2"/>
            </a:solidFill>
            <a:prstDash val="solid"/>
          </a:ln>
        </p:spPr>
      </p:sp>
      <p:sp>
        <p:nvSpPr>
          <p:cNvPr id="52" name="new card 9 dot"/>
          <p:cNvSpPr/>
          <p:nvPr/>
        </p:nvSpPr>
        <p:spPr>
          <a:xfrm>
            <a:off x="8305495" y="4864608"/>
            <a:ext cx="502920" cy="502920"/>
          </a:xfrm>
          <a:prstGeom prst="ellipse">
            <a:avLst/>
          </a:prstGeom>
          <a:solidFill>
            <a:schemeClr val="tx2"/>
          </a:solidFill>
          <a:ln w="12700">
            <a:solidFill>
              <a:schemeClr val="tx2"/>
            </a:solidFill>
            <a:prstDash val="solid"/>
          </a:ln>
        </p:spPr>
      </p:sp>
      <p:pic>
        <p:nvPicPr>
          <p:cNvPr id="53" name="new card 9 icon" descr="preencoded.png">    </p:cNvPr>
          <p:cNvPicPr>
            <a:picLocks noChangeAspect="1"/>
          </p:cNvPicPr>
          <p:nvPr/>
        </p:nvPicPr>
        <p:blipFill>
          <a:blip r:embed="rId9"/>
          <a:stretch>
            <a:fillRect/>
          </a:stretch>
        </p:blipFill>
        <p:spPr>
          <a:xfrm>
            <a:off x="8431225" y="4990338"/>
            <a:ext cx="251460" cy="251460"/>
          </a:xfrm>
          <a:prstGeom prst="rect">
            <a:avLst/>
          </a:prstGeom>
        </p:spPr>
      </p:pic>
      <p:sp>
        <p:nvSpPr>
          <p:cNvPr id="54" name="new title 9"/>
          <p:cNvSpPr txBox="1"/>
          <p:nvPr/>
        </p:nvSpPr>
        <p:spPr>
          <a:xfrm>
            <a:off x="8945575" y="4846320"/>
            <a:ext cx="2514600" cy="365760"/>
          </a:xfrm>
          <a:prstGeom prst="rect">
            <a:avLst/>
          </a:prstGeom>
          <a:noFill/>
          <a:ln/>
        </p:spPr>
        <p:txBody>
          <a:bodyPr wrap="square" lIns="0" tIns="0" rIns="0" bIns="0" rtlCol="0" anchor="ctr"/>
          <a:lstStyle/>
          <a:p>
            <a:pPr indent="0" marL="0">
              <a:buNone/>
            </a:pPr>
            <a:r>
              <a:rPr lang="en-US" sz="1500" b="1" dirty="0">
                <a:solidFill>
                  <a:schemeClr val="tx2"/>
                </a:solidFill>
              </a:rPr>
              <a:t>Gated AI-SDLC</a:t>
            </a:r>
            <a:endParaRPr lang="en-US" sz="1500" dirty="0"/>
          </a:p>
        </p:txBody>
      </p:sp>
      <p:sp>
        <p:nvSpPr>
          <p:cNvPr id="55" name="new body 9"/>
          <p:cNvSpPr txBox="1"/>
          <p:nvPr/>
        </p:nvSpPr>
        <p:spPr>
          <a:xfrm>
            <a:off x="8945575" y="5230368"/>
            <a:ext cx="2514600" cy="502920"/>
          </a:xfrm>
          <a:prstGeom prst="rect">
            <a:avLst/>
          </a:prstGeom>
          <a:noFill/>
          <a:ln/>
        </p:spPr>
        <p:txBody>
          <a:bodyPr wrap="square" lIns="0" tIns="0" rIns="0" bIns="0" rtlCol="0" anchor="t"/>
          <a:lstStyle/>
          <a:p>
            <a:pPr indent="0" marL="0">
              <a:buNone/>
            </a:pPr>
            <a:r>
              <a:rPr lang="en-US" sz="1200" dirty="0">
                <a:solidFill>
                  <a:schemeClr val="tx1"/>
                </a:solidFill>
              </a:rPr>
              <a:t>hooks stop the coding agent breaking an invariant</a:t>
            </a:r>
            <a:endParaRPr lang="en-US" sz="1200" dirty="0"/>
          </a:p>
        </p:txBody>
      </p:sp>
      <p:sp>
        <p:nvSpPr>
          <p:cNvPr id="56" name="new chip 9"/>
          <p:cNvSpPr txBox="1"/>
          <p:nvPr/>
        </p:nvSpPr>
        <p:spPr>
          <a:xfrm>
            <a:off x="8945575" y="5742432"/>
            <a:ext cx="123444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2"/>
                </a:solidFill>
              </a:rPr>
              <a:t>212 commits</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Seventeen inventions, each with its real status</a:t>
            </a:r>
            <a:endParaRPr lang="en-US" sz="3200" dirty="0"/>
          </a:p>
        </p:txBody>
      </p:sp>
      <p:graphicFrame>
        <p:nvGraphicFramePr>
          <p:cNvPr id="3" name="inventions chart" descr=""/>
          <p:cNvGraphicFramePr/>
          <p:nvPr/>
        </p:nvGraphicFramePr>
        <p:xfrm>
          <a:off x="548640" y="137160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4" name="status chip Built"/>
          <p:cNvSpPr txBox="1"/>
          <p:nvPr/>
        </p:nvSpPr>
        <p:spPr>
          <a:xfrm>
            <a:off x="6035040" y="1417320"/>
            <a:ext cx="1600200"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5" name="status list Built"/>
          <p:cNvSpPr txBox="1"/>
          <p:nvPr/>
        </p:nvSpPr>
        <p:spPr>
          <a:xfrm>
            <a:off x="7772400" y="1399032"/>
            <a:ext cx="3867912" cy="685800"/>
          </a:xfrm>
          <a:prstGeom prst="rect">
            <a:avLst/>
          </a:prstGeom>
          <a:noFill/>
          <a:ln/>
        </p:spPr>
        <p:txBody>
          <a:bodyPr wrap="square" lIns="0" tIns="0" rIns="0" bIns="0" rtlCol="0" anchor="t"/>
          <a:lstStyle/>
          <a:p>
            <a:pPr indent="0" marL="0">
              <a:buNone/>
            </a:pPr>
            <a:r>
              <a:rPr lang="en-US" sz="1300" dirty="0">
                <a:solidFill>
                  <a:schemeClr val="tx1"/>
                </a:solidFill>
              </a:rPr>
              <a:t>14 derived-state-only sensing</a:t>
            </a:r>
            <a:endParaRPr lang="en-US" sz="1300" dirty="0"/>
          </a:p>
        </p:txBody>
      </p:sp>
      <p:sp>
        <p:nvSpPr>
          <p:cNvPr id="6" name="status chip Partial"/>
          <p:cNvSpPr txBox="1"/>
          <p:nvPr/>
        </p:nvSpPr>
        <p:spPr>
          <a:xfrm>
            <a:off x="6035040" y="2240280"/>
            <a:ext cx="160020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7" name="status list Partial"/>
          <p:cNvSpPr txBox="1"/>
          <p:nvPr/>
        </p:nvSpPr>
        <p:spPr>
          <a:xfrm>
            <a:off x="7772400" y="2221992"/>
            <a:ext cx="3867912" cy="1737360"/>
          </a:xfrm>
          <a:prstGeom prst="rect">
            <a:avLst/>
          </a:prstGeom>
          <a:noFill/>
          <a:ln/>
        </p:spPr>
        <p:txBody>
          <a:bodyPr wrap="square" lIns="0" tIns="0" rIns="0" bIns="0" rtlCol="0" anchor="t"/>
          <a:lstStyle/>
          <a:p>
            <a:pPr indent="0" marL="0">
              <a:buNone/>
            </a:pPr>
            <a:r>
              <a:rPr lang="en-US" sz="1300" dirty="0">
                <a:solidFill>
                  <a:schemeClr val="tx1"/>
                </a:solidFill>
              </a:rPr>
              <a:t>1 authority-routed inference · 4 offline manifest · 6 evidence receipt · 8 A2UI in the car · 11 motion-state legality · 12 a generated tool is a proposal · 13 the plan is not the authority · 15 grammar-bounded calls · 17 presence = push-to-talk</a:t>
            </a:r>
            <a:endParaRPr lang="en-US" sz="1300" dirty="0"/>
          </a:p>
        </p:txBody>
      </p:sp>
      <p:sp>
        <p:nvSpPr>
          <p:cNvPr id="8" name="status chip Proof of concept"/>
          <p:cNvSpPr txBox="1"/>
          <p:nvPr/>
        </p:nvSpPr>
        <p:spPr>
          <a:xfrm>
            <a:off x="6035040" y="4114800"/>
            <a:ext cx="1600200" cy="292608"/>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100" b="1" dirty="0">
                <a:solidFill>
                  <a:schemeClr val="bg1"/>
                </a:solidFill>
              </a:rPr>
              <a:t>Proof of concept</a:t>
            </a:r>
            <a:endParaRPr lang="en-US" sz="1100" dirty="0"/>
          </a:p>
        </p:txBody>
      </p:sp>
      <p:sp>
        <p:nvSpPr>
          <p:cNvPr id="9" name="status list Proof of concept"/>
          <p:cNvSpPr txBox="1"/>
          <p:nvPr/>
        </p:nvSpPr>
        <p:spPr>
          <a:xfrm>
            <a:off x="7772400" y="4096512"/>
            <a:ext cx="3867912" cy="685800"/>
          </a:xfrm>
          <a:prstGeom prst="rect">
            <a:avLst/>
          </a:prstGeom>
          <a:noFill/>
          <a:ln/>
        </p:spPr>
        <p:txBody>
          <a:bodyPr wrap="square" lIns="0" tIns="0" rIns="0" bIns="0" rtlCol="0" anchor="t"/>
          <a:lstStyle/>
          <a:p>
            <a:pPr indent="0" marL="0">
              <a:buNone/>
            </a:pPr>
            <a:r>
              <a:rPr lang="en-US" sz="1300" dirty="0">
                <a:solidFill>
                  <a:schemeClr val="tx1"/>
                </a:solidFill>
              </a:rPr>
              <a:t>2 the Speak predicate</a:t>
            </a:r>
            <a:endParaRPr lang="en-US" sz="1300" dirty="0"/>
          </a:p>
        </p:txBody>
      </p:sp>
      <p:sp>
        <p:nvSpPr>
          <p:cNvPr id="10" name="status chip Design only"/>
          <p:cNvSpPr txBox="1"/>
          <p:nvPr/>
        </p:nvSpPr>
        <p:spPr>
          <a:xfrm>
            <a:off x="6035040" y="4937760"/>
            <a:ext cx="1600200"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Design only</a:t>
            </a:r>
            <a:endParaRPr lang="en-US" sz="1100" dirty="0"/>
          </a:p>
        </p:txBody>
      </p:sp>
      <p:sp>
        <p:nvSpPr>
          <p:cNvPr id="11" name="status list Design only"/>
          <p:cNvSpPr txBox="1"/>
          <p:nvPr/>
        </p:nvSpPr>
        <p:spPr>
          <a:xfrm>
            <a:off x="7772400" y="4919472"/>
            <a:ext cx="3867912" cy="1371600"/>
          </a:xfrm>
          <a:prstGeom prst="rect">
            <a:avLst/>
          </a:prstGeom>
          <a:noFill/>
          <a:ln/>
        </p:spPr>
        <p:txBody>
          <a:bodyPr wrap="square" lIns="0" tIns="0" rIns="0" bIns="0" rtlCol="0" anchor="t"/>
          <a:lstStyle/>
          <a:p>
            <a:pPr indent="0" marL="0">
              <a:buNone/>
            </a:pPr>
            <a:r>
              <a:rPr lang="en-US" sz="1300" dirty="0">
                <a:solidFill>
                  <a:schemeClr val="tx1"/>
                </a:solidFill>
              </a:rPr>
              <a:t>3 refusal counterfactual · 5 joules per answer · 7 negative-answer accountability · 9 shadow verdict gate · 10 conflict arbitration · 16 signed model slots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Ask the car: every reading passes the gate</a:t>
            </a:r>
            <a:endParaRPr lang="en-US" sz="3200" dirty="0"/>
          </a:p>
        </p:txBody>
      </p:sp>
      <p:pic>
        <p:nvPicPr>
          <p:cNvPr id="3" name="ask the car sequence diagram" descr="ask the car sequence diagram">    </p:cNvPr>
          <p:cNvPicPr>
            <a:picLocks noChangeAspect="1"/>
          </p:cNvPicPr>
          <p:nvPr/>
        </p:nvPicPr>
        <p:blipFill>
          <a:blip r:embed="rId1"/>
          <a:stretch>
            <a:fillRect/>
          </a:stretch>
        </p:blipFill>
        <p:spPr>
          <a:xfrm>
            <a:off x="548640" y="1311657"/>
            <a:ext cx="11094415" cy="4371846"/>
          </a:xfrm>
          <a:prstGeom prst="rect">
            <a:avLst/>
          </a:prstGeom>
        </p:spPr>
      </p:pic>
      <p:sp>
        <p:nvSpPr>
          <p:cNvPr id="4" name="ask caption"/>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400" dirty="0">
                <a:solidFill>
                  <a:schemeClr val="tx1"/>
                </a:solidFill>
              </a:rPr>
              <a:t>The fast route picks the readings. Each passes Allow(q) and is journalled. The answer shows its evidence and is spoken through the car's speakers.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Refusals are fast, named and journalled</a:t>
            </a:r>
            <a:endParaRPr lang="en-US" sz="3200" dirty="0"/>
          </a:p>
        </p:txBody>
      </p:sp>
      <p:pic>
        <p:nvPicPr>
          <p:cNvPr id="3" name="refused by name sequence diagram" descr="refused by name sequence diagram">    </p:cNvPr>
          <p:cNvPicPr>
            <a:picLocks noChangeAspect="1"/>
          </p:cNvPicPr>
          <p:nvPr/>
        </p:nvPicPr>
        <p:blipFill>
          <a:blip r:embed="rId1"/>
          <a:stretch>
            <a:fillRect/>
          </a:stretch>
        </p:blipFill>
        <p:spPr>
          <a:xfrm>
            <a:off x="548640" y="1810902"/>
            <a:ext cx="6949440" cy="3236196"/>
          </a:xfrm>
          <a:prstGeom prst="rect">
            <a:avLst/>
          </a:prstGeom>
        </p:spPr>
      </p:pic>
      <p:sp>
        <p:nvSpPr>
          <p:cNvPr id="4" name="stale card"/>
          <p:cNvSpPr/>
          <p:nvPr/>
        </p:nvSpPr>
        <p:spPr>
          <a:xfrm>
            <a:off x="7818120" y="1371600"/>
            <a:ext cx="3822192" cy="4480560"/>
          </a:xfrm>
          <a:prstGeom prst="roundRect">
            <a:avLst>
              <a:gd name="adj" fmla="val 1914"/>
            </a:avLst>
          </a:prstGeom>
          <a:solidFill>
            <a:schemeClr val="bg2"/>
          </a:solidFill>
          <a:ln w="12700">
            <a:solidFill>
              <a:schemeClr val="bg2"/>
            </a:solidFill>
            <a:prstDash val="solid"/>
          </a:ln>
        </p:spPr>
      </p:sp>
      <p:sp>
        <p:nvSpPr>
          <p:cNvPr id="5" name="stale head"/>
          <p:cNvSpPr txBox="1"/>
          <p:nvPr/>
        </p:nvSpPr>
        <p:spPr>
          <a:xfrm>
            <a:off x="8046720" y="1554480"/>
            <a:ext cx="3383280" cy="365760"/>
          </a:xfrm>
          <a:prstGeom prst="rect">
            <a:avLst/>
          </a:prstGeom>
          <a:noFill/>
          <a:ln/>
        </p:spPr>
        <p:txBody>
          <a:bodyPr wrap="square" lIns="0" tIns="0" rIns="0" bIns="0" rtlCol="0" anchor="ctr"/>
          <a:lstStyle/>
          <a:p>
            <a:pPr indent="0" marL="0">
              <a:buNone/>
            </a:pPr>
            <a:r>
              <a:rPr lang="en-US" sz="1700" b="1" dirty="0">
                <a:solidFill>
                  <a:schemeClr val="tx2"/>
                </a:solidFill>
              </a:rPr>
              <a:t>Stale data is refused too</a:t>
            </a:r>
            <a:endParaRPr lang="en-US" sz="1700" dirty="0"/>
          </a:p>
        </p:txBody>
      </p:sp>
      <p:sp>
        <p:nvSpPr>
          <p:cNvPr id="6" name="stale bullets"/>
          <p:cNvSpPr txBox="1"/>
          <p:nvPr/>
        </p:nvSpPr>
        <p:spPr>
          <a:xfrm>
            <a:off x="8046720" y="2011680"/>
            <a:ext cx="3429000" cy="365760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A reading older than its bound is refused STALE_EVIDENCE.</a:t>
            </a:r>
            <a:endParaRPr lang="en-US" sz="1400" dirty="0"/>
          </a:p>
          <a:p>
            <a:pPr marL="342900" indent="-342900">
              <a:spcAft>
                <a:spcPts val="800"/>
              </a:spcAft>
              <a:buSzPct val="100000"/>
              <a:buChar char="•"/>
            </a:pPr>
            <a:r>
              <a:rPr lang="en-US" sz="1400" dirty="0">
                <a:solidFill>
                  <a:schemeClr val="tx1"/>
                </a:solidFill>
              </a:rPr>
              <a:t>The agent says: "I could not read the coolant temperature — the reading is too old."</a:t>
            </a:r>
            <a:endParaRPr lang="en-US" sz="1400" dirty="0"/>
          </a:p>
          <a:p>
            <a:pPr marL="342900" indent="-342900">
              <a:spcAft>
                <a:spcPts val="800"/>
              </a:spcAft>
              <a:buSzPct val="100000"/>
              <a:buChar char="•"/>
            </a:pPr>
            <a:r>
              <a:rPr lang="en-US" sz="1400" dirty="0">
                <a:solidFill>
                  <a:schemeClr val="tx1"/>
                </a:solidFill>
              </a:rPr>
              <a:t>Commands are refused before any model runs: milliseconds, not seconds.</a:t>
            </a:r>
            <a:endParaRPr lang="en-US" sz="1400" dirty="0"/>
          </a:p>
          <a:p>
            <a:pPr marL="342900" indent="-342900">
              <a:spcAft>
                <a:spcPts val="800"/>
              </a:spcAft>
              <a:buSzPct val="100000"/>
              <a:buChar char="•"/>
            </a:pPr>
            <a:r>
              <a:rPr lang="en-US" sz="1400" dirty="0">
                <a:solidFill>
                  <a:schemeClr val="tx1"/>
                </a:solidFill>
              </a:rPr>
              <a:t>An old number is never shown as current.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The model is the last resort</a:t>
            </a:r>
            <a:endParaRPr lang="en-US" sz="3200" dirty="0"/>
          </a:p>
        </p:txBody>
      </p:sp>
      <p:sp>
        <p:nvSpPr>
          <p:cNvPr id="3" name="rung 1"/>
          <p:cNvSpPr/>
          <p:nvPr/>
        </p:nvSpPr>
        <p:spPr>
          <a:xfrm>
            <a:off x="548640" y="1417320"/>
            <a:ext cx="6309360" cy="1051560"/>
          </a:xfrm>
          <a:prstGeom prst="roundRect">
            <a:avLst>
              <a:gd name="adj" fmla="val 6957"/>
            </a:avLst>
          </a:prstGeom>
          <a:solidFill>
            <a:schemeClr val="bg2"/>
          </a:solidFill>
          <a:ln w="12700">
            <a:solidFill>
              <a:schemeClr val="bg2"/>
            </a:solidFill>
            <a:prstDash val="solid"/>
          </a:ln>
        </p:spPr>
      </p:sp>
      <p:sp>
        <p:nvSpPr>
          <p:cNvPr id="4" name="rung num 1"/>
          <p:cNvSpPr txBox="1"/>
          <p:nvPr/>
        </p:nvSpPr>
        <p:spPr>
          <a:xfrm>
            <a:off x="777240" y="1764792"/>
            <a:ext cx="457200"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rung title 1"/>
          <p:cNvSpPr txBox="1"/>
          <p:nvPr/>
        </p:nvSpPr>
        <p:spPr>
          <a:xfrm>
            <a:off x="1463040" y="1536192"/>
            <a:ext cx="5212080" cy="365760"/>
          </a:xfrm>
          <a:prstGeom prst="rect">
            <a:avLst/>
          </a:prstGeom>
          <a:noFill/>
          <a:ln/>
        </p:spPr>
        <p:txBody>
          <a:bodyPr wrap="square" lIns="0" tIns="0" rIns="0" bIns="0" rtlCol="0" anchor="ctr"/>
          <a:lstStyle/>
          <a:p>
            <a:pPr indent="0" marL="0">
              <a:buNone/>
            </a:pPr>
            <a:r>
              <a:rPr lang="en-US" sz="1700" b="1" dirty="0">
                <a:solidFill>
                  <a:schemeClr val="tx2"/>
                </a:solidFill>
              </a:rPr>
              <a:t>No model</a:t>
            </a:r>
            <a:endParaRPr lang="en-US" sz="1700" dirty="0"/>
          </a:p>
        </p:txBody>
      </p:sp>
      <p:sp>
        <p:nvSpPr>
          <p:cNvPr id="6" name="rung body 1"/>
          <p:cNvSpPr txBox="1"/>
          <p:nvPr/>
        </p:nvSpPr>
        <p:spPr>
          <a:xfrm>
            <a:off x="1463040" y="1920240"/>
            <a:ext cx="5212080" cy="411480"/>
          </a:xfrm>
          <a:prstGeom prst="rect">
            <a:avLst/>
          </a:prstGeom>
          <a:noFill/>
          <a:ln/>
        </p:spPr>
        <p:txBody>
          <a:bodyPr wrap="square" lIns="0" tIns="0" rIns="0" bIns="0" rtlCol="0" anchor="ctr"/>
          <a:lstStyle/>
          <a:p>
            <a:pPr indent="0" marL="0">
              <a:buNone/>
            </a:pPr>
            <a:r>
              <a:rPr lang="en-US" sz="1400" dirty="0">
                <a:solidFill>
                  <a:schemeClr val="tx1"/>
                </a:solidFill>
              </a:rPr>
              <a:t>commands and C3 refused; template answers</a:t>
            </a:r>
            <a:endParaRPr lang="en-US" sz="1400" dirty="0"/>
          </a:p>
        </p:txBody>
      </p:sp>
      <p:sp>
        <p:nvSpPr>
          <p:cNvPr id="7" name="rung 2"/>
          <p:cNvSpPr/>
          <p:nvPr/>
        </p:nvSpPr>
        <p:spPr>
          <a:xfrm>
            <a:off x="548640" y="2651760"/>
            <a:ext cx="6309360" cy="1051560"/>
          </a:xfrm>
          <a:prstGeom prst="roundRect">
            <a:avLst>
              <a:gd name="adj" fmla="val 6957"/>
            </a:avLst>
          </a:prstGeom>
          <a:solidFill>
            <a:schemeClr val="bg2"/>
          </a:solidFill>
          <a:ln w="12700">
            <a:solidFill>
              <a:schemeClr val="bg2"/>
            </a:solidFill>
            <a:prstDash val="solid"/>
          </a:ln>
        </p:spPr>
      </p:sp>
      <p:sp>
        <p:nvSpPr>
          <p:cNvPr id="8" name="rung num 2"/>
          <p:cNvSpPr txBox="1"/>
          <p:nvPr/>
        </p:nvSpPr>
        <p:spPr>
          <a:xfrm>
            <a:off x="777240" y="2999232"/>
            <a:ext cx="45720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rung title 2"/>
          <p:cNvSpPr txBox="1"/>
          <p:nvPr/>
        </p:nvSpPr>
        <p:spPr>
          <a:xfrm>
            <a:off x="1463040" y="2770632"/>
            <a:ext cx="5212080" cy="365760"/>
          </a:xfrm>
          <a:prstGeom prst="rect">
            <a:avLst/>
          </a:prstGeom>
          <a:noFill/>
          <a:ln/>
        </p:spPr>
        <p:txBody>
          <a:bodyPr wrap="square" lIns="0" tIns="0" rIns="0" bIns="0" rtlCol="0" anchor="ctr"/>
          <a:lstStyle/>
          <a:p>
            <a:pPr indent="0" marL="0">
              <a:buNone/>
            </a:pPr>
            <a:r>
              <a:rPr lang="en-US" sz="1700" b="1" dirty="0">
                <a:solidFill>
                  <a:schemeClr val="tx2"/>
                </a:solidFill>
              </a:rPr>
              <a:t>Small classifier, ~130 ms warm</a:t>
            </a:r>
            <a:endParaRPr lang="en-US" sz="1700" dirty="0"/>
          </a:p>
        </p:txBody>
      </p:sp>
      <p:sp>
        <p:nvSpPr>
          <p:cNvPr id="10" name="rung body 2"/>
          <p:cNvSpPr txBox="1"/>
          <p:nvPr/>
        </p:nvSpPr>
        <p:spPr>
          <a:xfrm>
            <a:off x="1463040" y="3154680"/>
            <a:ext cx="5212080" cy="411480"/>
          </a:xfrm>
          <a:prstGeom prst="rect">
            <a:avLst/>
          </a:prstGeom>
          <a:noFill/>
          <a:ln/>
        </p:spPr>
        <p:txBody>
          <a:bodyPr wrap="square" lIns="0" tIns="0" rIns="0" bIns="0" rtlCol="0" anchor="ctr"/>
          <a:lstStyle/>
          <a:p>
            <a:pPr indent="0" marL="0">
              <a:buNone/>
            </a:pPr>
            <a:r>
              <a:rPr lang="en-US" sz="1400" dirty="0">
                <a:solidFill>
                  <a:schemeClr val="tx1"/>
                </a:solidFill>
              </a:rPr>
              <a:t>picks the one reading a question needs</a:t>
            </a:r>
            <a:endParaRPr lang="en-US" sz="1400" dirty="0"/>
          </a:p>
        </p:txBody>
      </p:sp>
      <p:sp>
        <p:nvSpPr>
          <p:cNvPr id="11" name="rung 3"/>
          <p:cNvSpPr/>
          <p:nvPr/>
        </p:nvSpPr>
        <p:spPr>
          <a:xfrm>
            <a:off x="548640" y="3886200"/>
            <a:ext cx="6309360" cy="1051560"/>
          </a:xfrm>
          <a:prstGeom prst="roundRect">
            <a:avLst>
              <a:gd name="adj" fmla="val 6957"/>
            </a:avLst>
          </a:prstGeom>
          <a:solidFill>
            <a:schemeClr val="bg2"/>
          </a:solidFill>
          <a:ln w="12700">
            <a:solidFill>
              <a:schemeClr val="bg2"/>
            </a:solidFill>
            <a:prstDash val="solid"/>
          </a:ln>
        </p:spPr>
      </p:sp>
      <p:sp>
        <p:nvSpPr>
          <p:cNvPr id="12" name="rung num 3"/>
          <p:cNvSpPr txBox="1"/>
          <p:nvPr/>
        </p:nvSpPr>
        <p:spPr>
          <a:xfrm>
            <a:off x="777240" y="4233672"/>
            <a:ext cx="45720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rung title 3"/>
          <p:cNvSpPr txBox="1"/>
          <p:nvPr/>
        </p:nvSpPr>
        <p:spPr>
          <a:xfrm>
            <a:off x="1463040" y="4005072"/>
            <a:ext cx="5212080" cy="365760"/>
          </a:xfrm>
          <a:prstGeom prst="rect">
            <a:avLst/>
          </a:prstGeom>
          <a:noFill/>
          <a:ln/>
        </p:spPr>
        <p:txBody>
          <a:bodyPr wrap="square" lIns="0" tIns="0" rIns="0" bIns="0" rtlCol="0" anchor="ctr"/>
          <a:lstStyle/>
          <a:p>
            <a:pPr indent="0" marL="0">
              <a:buNone/>
            </a:pPr>
            <a:r>
              <a:rPr lang="en-US" sz="1700" b="1" dirty="0">
                <a:solidFill>
                  <a:schemeClr val="tx2"/>
                </a:solidFill>
              </a:rPr>
              <a:t>Larger model</a:t>
            </a:r>
            <a:endParaRPr lang="en-US" sz="1700" dirty="0"/>
          </a:p>
        </p:txBody>
      </p:sp>
      <p:sp>
        <p:nvSpPr>
          <p:cNvPr id="14" name="rung body 3"/>
          <p:cNvSpPr txBox="1"/>
          <p:nvPr/>
        </p:nvSpPr>
        <p:spPr>
          <a:xfrm>
            <a:off x="1463040" y="4389120"/>
            <a:ext cx="5212080" cy="411480"/>
          </a:xfrm>
          <a:prstGeom prst="rect">
            <a:avLst/>
          </a:prstGeom>
          <a:noFill/>
          <a:ln/>
        </p:spPr>
        <p:txBody>
          <a:bodyPr wrap="square" lIns="0" tIns="0" rIns="0" bIns="0" rtlCol="0" anchor="ctr"/>
          <a:lstStyle/>
          <a:p>
            <a:pPr indent="0" marL="0">
              <a:buNone/>
            </a:pPr>
            <a:r>
              <a:rPr lang="en-US" sz="1400" dirty="0">
                <a:solidFill>
                  <a:schemeClr val="tx1"/>
                </a:solidFill>
              </a:rPr>
              <a:t>plans in a strict schema; every step re-enters the gate</a:t>
            </a:r>
            <a:endParaRPr lang="en-US" sz="1400" dirty="0"/>
          </a:p>
        </p:txBody>
      </p:sp>
      <p:sp>
        <p:nvSpPr>
          <p:cNvPr id="15" name="ladder note"/>
          <p:cNvSpPr txBox="1"/>
          <p:nvPr/>
        </p:nvSpPr>
        <p:spPr>
          <a:xfrm>
            <a:off x="548640" y="5166360"/>
            <a:ext cx="6309360" cy="640080"/>
          </a:xfrm>
          <a:prstGeom prst="rect">
            <a:avLst/>
          </a:prstGeom>
          <a:noFill/>
          <a:ln/>
        </p:spPr>
        <p:txBody>
          <a:bodyPr wrap="square" lIns="0" tIns="0" rIns="0" bIns="0" rtlCol="0" anchor="t"/>
          <a:lstStyle/>
          <a:p>
            <a:pPr indent="0" marL="0">
              <a:buNone/>
            </a:pPr>
            <a:r>
              <a:rPr lang="en-US" sz="1400" i="1" dirty="0">
                <a:solidFill>
                  <a:schemeClr val="accent5"/>
                </a:solidFill>
              </a:rPr>
              <a:t>If the larger model is unreachable: a model-free answer, or an honest "I can't answer that now".</a:t>
            </a:r>
            <a:endParaRPr lang="en-US" sz="1400" dirty="0"/>
          </a:p>
        </p:txBody>
      </p:sp>
      <p:sp>
        <p:nvSpPr>
          <p:cNvPr id="16" name="latency value"/>
          <p:cNvSpPr txBox="1"/>
          <p:nvPr/>
        </p:nvSpPr>
        <p:spPr>
          <a:xfrm>
            <a:off x="7315200" y="1463040"/>
            <a:ext cx="4325112" cy="868680"/>
          </a:xfrm>
          <a:prstGeom prst="rect">
            <a:avLst/>
          </a:prstGeom>
          <a:noFill/>
          <a:ln/>
        </p:spPr>
        <p:txBody>
          <a:bodyPr wrap="square" lIns="0" tIns="0" rIns="0" bIns="0" rtlCol="0" anchor="ctr"/>
          <a:lstStyle/>
          <a:p>
            <a:pPr indent="0" marL="0">
              <a:buNone/>
            </a:pPr>
            <a:r>
              <a:rPr lang="en-US" sz="4400" b="1" dirty="0">
                <a:solidFill>
                  <a:schemeClr val="accent1"/>
                </a:solidFill>
              </a:rPr>
              <a:t>19.7 → 0.86 s</a:t>
            </a:r>
            <a:endParaRPr lang="en-US" sz="4400" dirty="0"/>
          </a:p>
        </p:txBody>
      </p:sp>
      <p:sp>
        <p:nvSpPr>
          <p:cNvPr id="17" name="latency label"/>
          <p:cNvSpPr txBox="1"/>
          <p:nvPr/>
        </p:nvSpPr>
        <p:spPr>
          <a:xfrm>
            <a:off x="7315200" y="2359152"/>
            <a:ext cx="4325112" cy="640080"/>
          </a:xfrm>
          <a:prstGeom prst="rect">
            <a:avLst/>
          </a:prstGeom>
          <a:noFill/>
          <a:ln/>
        </p:spPr>
        <p:txBody>
          <a:bodyPr wrap="square" lIns="0" tIns="0" rIns="0" bIns="0" rtlCol="0" anchor="t"/>
          <a:lstStyle/>
          <a:p>
            <a:pPr indent="0" marL="0">
              <a:buNone/>
            </a:pPr>
            <a:r>
              <a:rPr lang="en-US" sz="1400" dirty="0">
                <a:solidFill>
                  <a:schemeClr val="tx1"/>
                </a:solidFill>
              </a:rPr>
              <a:t>median answer time, before and after the fast route</a:t>
            </a:r>
            <a:endParaRPr lang="en-US" sz="1400" dirty="0"/>
          </a:p>
        </p:txBody>
      </p:sp>
      <p:sp>
        <p:nvSpPr>
          <p:cNvPr id="18" name="box down value"/>
          <p:cNvSpPr txBox="1"/>
          <p:nvPr/>
        </p:nvSpPr>
        <p:spPr>
          <a:xfrm>
            <a:off x="7315200" y="3200400"/>
            <a:ext cx="4325112" cy="868680"/>
          </a:xfrm>
          <a:prstGeom prst="rect">
            <a:avLst/>
          </a:prstGeom>
          <a:noFill/>
          <a:ln/>
        </p:spPr>
        <p:txBody>
          <a:bodyPr wrap="square" lIns="0" tIns="0" rIns="0" bIns="0" rtlCol="0" anchor="ctr"/>
          <a:lstStyle/>
          <a:p>
            <a:pPr indent="0" marL="0">
              <a:buNone/>
            </a:pPr>
            <a:r>
              <a:rPr lang="en-US" sz="4800" b="1" dirty="0">
                <a:solidFill>
                  <a:schemeClr val="accent2"/>
                </a:solidFill>
              </a:rPr>
              <a:t>12 / 12</a:t>
            </a:r>
            <a:endParaRPr lang="en-US" sz="4800" dirty="0"/>
          </a:p>
        </p:txBody>
      </p:sp>
      <p:sp>
        <p:nvSpPr>
          <p:cNvPr id="19" name="box down label"/>
          <p:cNvSpPr txBox="1"/>
          <p:nvPr/>
        </p:nvSpPr>
        <p:spPr>
          <a:xfrm>
            <a:off x="7315200" y="4096512"/>
            <a:ext cx="4325112" cy="640080"/>
          </a:xfrm>
          <a:prstGeom prst="rect">
            <a:avLst/>
          </a:prstGeom>
          <a:noFill/>
          <a:ln/>
        </p:spPr>
        <p:txBody>
          <a:bodyPr wrap="square" lIns="0" tIns="0" rIns="0" bIns="0" rtlCol="0" anchor="t"/>
          <a:lstStyle/>
          <a:p>
            <a:pPr indent="0" marL="0">
              <a:buNone/>
            </a:pPr>
            <a:r>
              <a:rPr lang="en-US" sz="1400" dirty="0">
                <a:solidFill>
                  <a:schemeClr val="tx1"/>
                </a:solidFill>
              </a:rPr>
              <a:t>eval questions answered with the workstation model off (19 Oct)</a:t>
            </a:r>
            <a:endParaRPr lang="en-US" sz="1400" dirty="0"/>
          </a:p>
        </p:txBody>
      </p:sp>
      <p:sp>
        <p:nvSpPr>
          <p:cNvPr id="20" name="median value"/>
          <p:cNvSpPr txBox="1"/>
          <p:nvPr/>
        </p:nvSpPr>
        <p:spPr>
          <a:xfrm>
            <a:off x="7315200" y="4800600"/>
            <a:ext cx="4325112" cy="868680"/>
          </a:xfrm>
          <a:prstGeom prst="rect">
            <a:avLst/>
          </a:prstGeom>
          <a:noFill/>
          <a:ln/>
        </p:spPr>
        <p:txBody>
          <a:bodyPr wrap="square" lIns="0" tIns="0" rIns="0" bIns="0" rtlCol="0" anchor="ctr"/>
          <a:lstStyle/>
          <a:p>
            <a:pPr indent="0" marL="0">
              <a:buNone/>
            </a:pPr>
            <a:r>
              <a:rPr lang="en-US" sz="4800" b="1" dirty="0">
                <a:solidFill>
                  <a:schemeClr val="tx2"/>
                </a:solidFill>
              </a:rPr>
              <a:t>0.4 s</a:t>
            </a:r>
            <a:endParaRPr lang="en-US" sz="4800" dirty="0"/>
          </a:p>
        </p:txBody>
      </p:sp>
      <p:sp>
        <p:nvSpPr>
          <p:cNvPr id="21" name="median label"/>
          <p:cNvSpPr txBox="1"/>
          <p:nvPr/>
        </p:nvSpPr>
        <p:spPr>
          <a:xfrm>
            <a:off x="7315200" y="5696712"/>
            <a:ext cx="4325112" cy="640080"/>
          </a:xfrm>
          <a:prstGeom prst="rect">
            <a:avLst/>
          </a:prstGeom>
          <a:noFill/>
          <a:ln/>
        </p:spPr>
        <p:txBody>
          <a:bodyPr wrap="square" lIns="0" tIns="0" rIns="0" bIns="0" rtlCol="0" anchor="t"/>
          <a:lstStyle/>
          <a:p>
            <a:pPr indent="0" marL="0">
              <a:buNone/>
            </a:pPr>
            <a:r>
              <a:rPr lang="en-US" sz="1400" dirty="0">
                <a:solidFill>
                  <a:schemeClr val="tx1"/>
                </a:solidFill>
              </a:rPr>
              <a:t>median live answer, the same day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A test that has never failed proves nothing</a:t>
            </a:r>
            <a:endParaRPr lang="en-US" sz="3200" dirty="0"/>
          </a:p>
        </p:txBody>
      </p:sp>
      <p:sp>
        <p:nvSpPr>
          <p:cNvPr id="3" name="tdd step 1"/>
          <p:cNvSpPr txBox="1"/>
          <p:nvPr/>
        </p:nvSpPr>
        <p:spPr>
          <a:xfrm>
            <a:off x="548640"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Requirement</a:t>
            </a:r>
            <a:endParaRPr lang="en-US" sz="1200" dirty="0"/>
          </a:p>
        </p:txBody>
      </p:sp>
      <p:sp>
        <p:nvSpPr>
          <p:cNvPr id="4" name="tdd step 2"/>
          <p:cNvSpPr txBox="1"/>
          <p:nvPr/>
        </p:nvSpPr>
        <p:spPr>
          <a:xfrm>
            <a:off x="1950676"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Test names its reason code</a:t>
            </a:r>
            <a:endParaRPr lang="en-US" sz="1200" dirty="0"/>
          </a:p>
        </p:txBody>
      </p:sp>
      <p:sp>
        <p:nvSpPr>
          <p:cNvPr id="5" name="tdd step 3"/>
          <p:cNvSpPr txBox="1"/>
          <p:nvPr/>
        </p:nvSpPr>
        <p:spPr>
          <a:xfrm>
            <a:off x="3352713" y="1417320"/>
            <a:ext cx="1280160" cy="914400"/>
          </a:xfrm>
          <a:prstGeom prst="roundRect">
            <a:avLst>
              <a:gd name="adj" fmla="val 8000"/>
            </a:avLst>
          </a:prstGeom>
          <a:solidFill>
            <a:schemeClr val="accent1"/>
          </a:solidFill>
          <a:ln>
            <a:solidFill>
              <a:schemeClr val="accent1"/>
            </a:solidFill>
          </a:ln>
        </p:spPr>
        <p:txBody>
          <a:bodyPr wrap="square" lIns="50800" tIns="50800" rIns="50800" bIns="50800" rtlCol="0" anchor="ctr"/>
          <a:lstStyle/>
          <a:p>
            <a:pPr algn="ctr" indent="0" marL="0">
              <a:buNone/>
            </a:pPr>
            <a:r>
              <a:rPr lang="en-US" sz="1200" b="1" dirty="0">
                <a:solidFill>
                  <a:schemeClr val="tx2"/>
                </a:solidFill>
              </a:rPr>
              <a:t>Must fail for the stated reason</a:t>
            </a:r>
            <a:endParaRPr lang="en-US" sz="1200" dirty="0"/>
          </a:p>
        </p:txBody>
      </p:sp>
      <p:sp>
        <p:nvSpPr>
          <p:cNvPr id="6" name="tdd step 4"/>
          <p:cNvSpPr txBox="1"/>
          <p:nvPr/>
        </p:nvSpPr>
        <p:spPr>
          <a:xfrm>
            <a:off x="4754749"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Minimal code</a:t>
            </a:r>
            <a:endParaRPr lang="en-US" sz="1200" dirty="0"/>
          </a:p>
        </p:txBody>
      </p:sp>
      <p:sp>
        <p:nvSpPr>
          <p:cNvPr id="7" name="tdd step 5"/>
          <p:cNvSpPr txBox="1"/>
          <p:nvPr/>
        </p:nvSpPr>
        <p:spPr>
          <a:xfrm>
            <a:off x="6156786"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Pass</a:t>
            </a:r>
            <a:endParaRPr lang="en-US" sz="1200" dirty="0"/>
          </a:p>
        </p:txBody>
      </p:sp>
      <p:sp>
        <p:nvSpPr>
          <p:cNvPr id="8" name="tdd step 6"/>
          <p:cNvSpPr txBox="1"/>
          <p:nvPr/>
        </p:nvSpPr>
        <p:spPr>
          <a:xfrm>
            <a:off x="7558822"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Reachability</a:t>
            </a:r>
            <a:endParaRPr lang="en-US" sz="1200" dirty="0"/>
          </a:p>
        </p:txBody>
      </p:sp>
      <p:sp>
        <p:nvSpPr>
          <p:cNvPr id="9" name="tdd step 7"/>
          <p:cNvSpPr txBox="1"/>
          <p:nvPr/>
        </p:nvSpPr>
        <p:spPr>
          <a:xfrm>
            <a:off x="8960859"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Mutation gate</a:t>
            </a:r>
            <a:endParaRPr lang="en-US" sz="1200" dirty="0"/>
          </a:p>
        </p:txBody>
      </p:sp>
      <p:sp>
        <p:nvSpPr>
          <p:cNvPr id="10" name="tdd step 8"/>
          <p:cNvSpPr txBox="1"/>
          <p:nvPr/>
        </p:nvSpPr>
        <p:spPr>
          <a:xfrm>
            <a:off x="10362895" y="1417320"/>
            <a:ext cx="1280160" cy="914400"/>
          </a:xfrm>
          <a:prstGeom prst="roundRect">
            <a:avLst>
              <a:gd name="adj" fmla="val 8000"/>
            </a:avLst>
          </a:prstGeom>
          <a:solidFill>
            <a:schemeClr val="bg2"/>
          </a:solidFill>
          <a:ln>
            <a:solidFill>
              <a:schemeClr val="bg2"/>
            </a:solidFill>
          </a:ln>
        </p:spPr>
        <p:txBody>
          <a:bodyPr wrap="square" lIns="50800" tIns="50800" rIns="50800" bIns="50800" rtlCol="0" anchor="ctr"/>
          <a:lstStyle/>
          <a:p>
            <a:pPr algn="ctr" indent="0" marL="0">
              <a:buNone/>
            </a:pPr>
            <a:r>
              <a:rPr lang="en-US" sz="1200" b="1" dirty="0">
                <a:solidFill>
                  <a:schemeClr val="tx2"/>
                </a:solidFill>
              </a:rPr>
              <a:t>Commit</a:t>
            </a:r>
            <a:endParaRPr lang="en-US" sz="1200" dirty="0"/>
          </a:p>
        </p:txBody>
      </p:sp>
      <p:sp>
        <p:nvSpPr>
          <p:cNvPr id="11" name="tiers head"/>
          <p:cNvSpPr txBox="1"/>
          <p:nvPr/>
        </p:nvSpPr>
        <p:spPr>
          <a:xfrm>
            <a:off x="548640" y="2651760"/>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Tiers — a tier that cannot run skips with its reason</a:t>
            </a:r>
            <a:endParaRPr lang="en-US" sz="1600" dirty="0"/>
          </a:p>
        </p:txBody>
      </p:sp>
      <p:sp>
        <p:nvSpPr>
          <p:cNvPr id="12" name="tier T1"/>
          <p:cNvSpPr txBox="1"/>
          <p:nvPr/>
        </p:nvSpPr>
        <p:spPr>
          <a:xfrm>
            <a:off x="548640" y="315468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T1</a:t>
            </a:r>
            <a:endParaRPr lang="en-US" sz="1200" dirty="0"/>
          </a:p>
        </p:txBody>
      </p:sp>
      <p:sp>
        <p:nvSpPr>
          <p:cNvPr id="13" name="tier text T1"/>
          <p:cNvSpPr txBox="1"/>
          <p:nvPr/>
        </p:nvSpPr>
        <p:spPr>
          <a:xfrm>
            <a:off x="1280160" y="3108960"/>
            <a:ext cx="4572000" cy="384048"/>
          </a:xfrm>
          <a:prstGeom prst="rect">
            <a:avLst/>
          </a:prstGeom>
          <a:noFill/>
          <a:ln/>
        </p:spPr>
        <p:txBody>
          <a:bodyPr wrap="square" lIns="0" tIns="0" rIns="0" bIns="0" rtlCol="0" anchor="ctr"/>
          <a:lstStyle/>
          <a:p>
            <a:pPr indent="0" marL="0">
              <a:buNone/>
            </a:pPr>
            <a:r>
              <a:rPr lang="en-US" sz="1400" dirty="0">
                <a:solidFill>
                  <a:schemeClr val="tx1"/>
                </a:solidFill>
              </a:rPr>
              <a:t>pure logic, any machine</a:t>
            </a:r>
            <a:endParaRPr lang="en-US" sz="1400" dirty="0"/>
          </a:p>
        </p:txBody>
      </p:sp>
      <p:sp>
        <p:nvSpPr>
          <p:cNvPr id="14" name="tier T2"/>
          <p:cNvSpPr txBox="1"/>
          <p:nvPr/>
        </p:nvSpPr>
        <p:spPr>
          <a:xfrm>
            <a:off x="548640" y="365760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T2</a:t>
            </a:r>
            <a:endParaRPr lang="en-US" sz="1200" dirty="0"/>
          </a:p>
        </p:txBody>
      </p:sp>
      <p:sp>
        <p:nvSpPr>
          <p:cNvPr id="15" name="tier text T2"/>
          <p:cNvSpPr txBox="1"/>
          <p:nvPr/>
        </p:nvSpPr>
        <p:spPr>
          <a:xfrm>
            <a:off x="1280160" y="3611880"/>
            <a:ext cx="4572000" cy="384048"/>
          </a:xfrm>
          <a:prstGeom prst="rect">
            <a:avLst/>
          </a:prstGeom>
          <a:noFill/>
          <a:ln/>
        </p:spPr>
        <p:txBody>
          <a:bodyPr wrap="square" lIns="0" tIns="0" rIns="0" bIns="0" rtlCol="0" anchor="ctr"/>
          <a:lstStyle/>
          <a:p>
            <a:pPr indent="0" marL="0">
              <a:buNone/>
            </a:pPr>
            <a:r>
              <a:rPr lang="en-US" sz="1400" dirty="0">
                <a:solidFill>
                  <a:schemeClr val="tx1"/>
                </a:solidFill>
              </a:rPr>
              <a:t>compute host</a:t>
            </a:r>
            <a:endParaRPr lang="en-US" sz="1400" dirty="0"/>
          </a:p>
        </p:txBody>
      </p:sp>
      <p:sp>
        <p:nvSpPr>
          <p:cNvPr id="16" name="tier T3"/>
          <p:cNvSpPr txBox="1"/>
          <p:nvPr/>
        </p:nvSpPr>
        <p:spPr>
          <a:xfrm>
            <a:off x="548640" y="416052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T3</a:t>
            </a:r>
            <a:endParaRPr lang="en-US" sz="1200" dirty="0"/>
          </a:p>
        </p:txBody>
      </p:sp>
      <p:sp>
        <p:nvSpPr>
          <p:cNvPr id="17" name="tier text T3"/>
          <p:cNvSpPr txBox="1"/>
          <p:nvPr/>
        </p:nvSpPr>
        <p:spPr>
          <a:xfrm>
            <a:off x="1280160" y="4114800"/>
            <a:ext cx="4572000" cy="384048"/>
          </a:xfrm>
          <a:prstGeom prst="rect">
            <a:avLst/>
          </a:prstGeom>
          <a:noFill/>
          <a:ln/>
        </p:spPr>
        <p:txBody>
          <a:bodyPr wrap="square" lIns="0" tIns="0" rIns="0" bIns="0" rtlCol="0" anchor="ctr"/>
          <a:lstStyle/>
          <a:p>
            <a:pPr indent="0" marL="0">
              <a:buNone/>
            </a:pPr>
            <a:r>
              <a:rPr lang="en-US" sz="1400" dirty="0">
                <a:solidFill>
                  <a:schemeClr val="tx1"/>
                </a:solidFill>
              </a:rPr>
              <a:t>CAN + ECU simulator</a:t>
            </a:r>
            <a:endParaRPr lang="en-US" sz="1400" dirty="0"/>
          </a:p>
        </p:txBody>
      </p:sp>
      <p:sp>
        <p:nvSpPr>
          <p:cNvPr id="18" name="tier T4"/>
          <p:cNvSpPr txBox="1"/>
          <p:nvPr/>
        </p:nvSpPr>
        <p:spPr>
          <a:xfrm>
            <a:off x="548640" y="466344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T4</a:t>
            </a:r>
            <a:endParaRPr lang="en-US" sz="1200" dirty="0"/>
          </a:p>
        </p:txBody>
      </p:sp>
      <p:sp>
        <p:nvSpPr>
          <p:cNvPr id="19" name="tier text T4"/>
          <p:cNvSpPr txBox="1"/>
          <p:nvPr/>
        </p:nvSpPr>
        <p:spPr>
          <a:xfrm>
            <a:off x="1280160" y="4617720"/>
            <a:ext cx="4572000" cy="384048"/>
          </a:xfrm>
          <a:prstGeom prst="rect">
            <a:avLst/>
          </a:prstGeom>
          <a:noFill/>
          <a:ln/>
        </p:spPr>
        <p:txBody>
          <a:bodyPr wrap="square" lIns="0" tIns="0" rIns="0" bIns="0" rtlCol="0" anchor="ctr"/>
          <a:lstStyle/>
          <a:p>
            <a:pPr indent="0" marL="0">
              <a:buNone/>
            </a:pPr>
            <a:r>
              <a:rPr lang="en-US" sz="1400" dirty="0">
                <a:solidFill>
                  <a:schemeClr val="tx1"/>
                </a:solidFill>
              </a:rPr>
              <a:t>governed: guard + journal</a:t>
            </a:r>
            <a:endParaRPr lang="en-US" sz="1400" dirty="0"/>
          </a:p>
        </p:txBody>
      </p:sp>
      <p:sp>
        <p:nvSpPr>
          <p:cNvPr id="20" name="tier T5"/>
          <p:cNvSpPr txBox="1"/>
          <p:nvPr/>
        </p:nvSpPr>
        <p:spPr>
          <a:xfrm>
            <a:off x="548640" y="516636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T5</a:t>
            </a:r>
            <a:endParaRPr lang="en-US" sz="1200" dirty="0"/>
          </a:p>
        </p:txBody>
      </p:sp>
      <p:sp>
        <p:nvSpPr>
          <p:cNvPr id="21" name="tier text T5"/>
          <p:cNvSpPr txBox="1"/>
          <p:nvPr/>
        </p:nvSpPr>
        <p:spPr>
          <a:xfrm>
            <a:off x="1280160" y="5120640"/>
            <a:ext cx="4572000" cy="384048"/>
          </a:xfrm>
          <a:prstGeom prst="rect">
            <a:avLst/>
          </a:prstGeom>
          <a:noFill/>
          <a:ln/>
        </p:spPr>
        <p:txBody>
          <a:bodyPr wrap="square" lIns="0" tIns="0" rIns="0" bIns="0" rtlCol="0" anchor="ctr"/>
          <a:lstStyle/>
          <a:p>
            <a:pPr indent="0" marL="0">
              <a:buNone/>
            </a:pPr>
            <a:r>
              <a:rPr lang="en-US" sz="1400" dirty="0">
                <a:solidFill>
                  <a:schemeClr val="tx1"/>
                </a:solidFill>
              </a:rPr>
              <a:t>two or more nodes</a:t>
            </a:r>
            <a:endParaRPr lang="en-US" sz="1400" dirty="0"/>
          </a:p>
        </p:txBody>
      </p:sp>
      <p:sp>
        <p:nvSpPr>
          <p:cNvPr id="22" name="tier T6"/>
          <p:cNvSpPr txBox="1"/>
          <p:nvPr/>
        </p:nvSpPr>
        <p:spPr>
          <a:xfrm>
            <a:off x="548640" y="5669280"/>
            <a:ext cx="548640"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accent1"/>
                </a:solidFill>
              </a:rPr>
              <a:t>T6</a:t>
            </a:r>
            <a:endParaRPr lang="en-US" sz="1200" dirty="0"/>
          </a:p>
        </p:txBody>
      </p:sp>
      <p:sp>
        <p:nvSpPr>
          <p:cNvPr id="23" name="tier text T6"/>
          <p:cNvSpPr txBox="1"/>
          <p:nvPr/>
        </p:nvSpPr>
        <p:spPr>
          <a:xfrm>
            <a:off x="1280160" y="5623560"/>
            <a:ext cx="4572000" cy="384048"/>
          </a:xfrm>
          <a:prstGeom prst="rect">
            <a:avLst/>
          </a:prstGeom>
          <a:noFill/>
          <a:ln/>
        </p:spPr>
        <p:txBody>
          <a:bodyPr wrap="square" lIns="0" tIns="0" rIns="0" bIns="0" rtlCol="0" anchor="ctr"/>
          <a:lstStyle/>
          <a:p>
            <a:pPr indent="0" marL="0">
              <a:buNone/>
            </a:pPr>
            <a:r>
              <a:rPr lang="en-US" sz="1400" dirty="0">
                <a:solidFill>
                  <a:schemeClr val="tx1"/>
                </a:solidFill>
              </a:rPr>
              <a:t>shadow, recorded corpus</a:t>
            </a:r>
            <a:endParaRPr lang="en-US" sz="1400" dirty="0"/>
          </a:p>
        </p:txBody>
      </p:sp>
      <p:sp>
        <p:nvSpPr>
          <p:cNvPr id="24" name="proof card 1"/>
          <p:cNvSpPr/>
          <p:nvPr/>
        </p:nvSpPr>
        <p:spPr>
          <a:xfrm>
            <a:off x="6400800" y="2651760"/>
            <a:ext cx="5239512" cy="1051560"/>
          </a:xfrm>
          <a:prstGeom prst="roundRect">
            <a:avLst>
              <a:gd name="adj" fmla="val 6957"/>
            </a:avLst>
          </a:prstGeom>
          <a:solidFill>
            <a:schemeClr val="bg2"/>
          </a:solidFill>
          <a:ln w="12700">
            <a:solidFill>
              <a:schemeClr val="bg2"/>
            </a:solidFill>
            <a:prstDash val="solid"/>
          </a:ln>
        </p:spPr>
      </p:sp>
      <p:sp>
        <p:nvSpPr>
          <p:cNvPr id="25" name="proof title 1"/>
          <p:cNvSpPr txBox="1"/>
          <p:nvPr/>
        </p:nvSpPr>
        <p:spPr>
          <a:xfrm>
            <a:off x="6629400" y="2743200"/>
            <a:ext cx="4846320" cy="365760"/>
          </a:xfrm>
          <a:prstGeom prst="rect">
            <a:avLst/>
          </a:prstGeom>
          <a:noFill/>
          <a:ln/>
        </p:spPr>
        <p:txBody>
          <a:bodyPr wrap="square" lIns="0" tIns="0" rIns="0" bIns="0" rtlCol="0" anchor="ctr"/>
          <a:lstStyle/>
          <a:p>
            <a:pPr indent="0" marL="0">
              <a:buNone/>
            </a:pPr>
            <a:r>
              <a:rPr lang="en-US" sz="1600" b="1" dirty="0">
                <a:solidFill>
                  <a:schemeClr val="tx2"/>
                </a:solidFill>
              </a:rPr>
              <a:t>Reachability</a:t>
            </a:r>
            <a:endParaRPr lang="en-US" sz="1600" dirty="0"/>
          </a:p>
        </p:txBody>
      </p:sp>
      <p:sp>
        <p:nvSpPr>
          <p:cNvPr id="26" name="proof body 1"/>
          <p:cNvSpPr txBox="1"/>
          <p:nvPr/>
        </p:nvSpPr>
        <p:spPr>
          <a:xfrm>
            <a:off x="6629400" y="3108960"/>
            <a:ext cx="4846320" cy="548640"/>
          </a:xfrm>
          <a:prstGeom prst="rect">
            <a:avLst/>
          </a:prstGeom>
          <a:noFill/>
          <a:ln/>
        </p:spPr>
        <p:txBody>
          <a:bodyPr wrap="square" lIns="0" tIns="0" rIns="0" bIns="0" rtlCol="0" anchor="t"/>
          <a:lstStyle/>
          <a:p>
            <a:pPr indent="0" marL="0">
              <a:buNone/>
            </a:pPr>
            <a:r>
              <a:rPr lang="en-US" sz="1300" dirty="0">
                <a:solidFill>
                  <a:schemeClr val="tx1"/>
                </a:solidFill>
              </a:rPr>
              <a:t>Each conjunct is made to deny alone, with its own code and no other. 8/8.</a:t>
            </a:r>
            <a:endParaRPr lang="en-US" sz="1300" dirty="0"/>
          </a:p>
        </p:txBody>
      </p:sp>
      <p:sp>
        <p:nvSpPr>
          <p:cNvPr id="27" name="proof card 2"/>
          <p:cNvSpPr/>
          <p:nvPr/>
        </p:nvSpPr>
        <p:spPr>
          <a:xfrm>
            <a:off x="6400800" y="3840480"/>
            <a:ext cx="5239512" cy="1051560"/>
          </a:xfrm>
          <a:prstGeom prst="roundRect">
            <a:avLst>
              <a:gd name="adj" fmla="val 6957"/>
            </a:avLst>
          </a:prstGeom>
          <a:solidFill>
            <a:schemeClr val="bg2"/>
          </a:solidFill>
          <a:ln w="12700">
            <a:solidFill>
              <a:schemeClr val="bg2"/>
            </a:solidFill>
            <a:prstDash val="solid"/>
          </a:ln>
        </p:spPr>
      </p:sp>
      <p:sp>
        <p:nvSpPr>
          <p:cNvPr id="28" name="proof title 2"/>
          <p:cNvSpPr txBox="1"/>
          <p:nvPr/>
        </p:nvSpPr>
        <p:spPr>
          <a:xfrm>
            <a:off x="6629400" y="3931920"/>
            <a:ext cx="4846320" cy="365760"/>
          </a:xfrm>
          <a:prstGeom prst="rect">
            <a:avLst/>
          </a:prstGeom>
          <a:noFill/>
          <a:ln/>
        </p:spPr>
        <p:txBody>
          <a:bodyPr wrap="square" lIns="0" tIns="0" rIns="0" bIns="0" rtlCol="0" anchor="ctr"/>
          <a:lstStyle/>
          <a:p>
            <a:pPr indent="0" marL="0">
              <a:buNone/>
            </a:pPr>
            <a:r>
              <a:rPr lang="en-US" sz="1600" b="1" dirty="0">
                <a:solidFill>
                  <a:schemeClr val="tx2"/>
                </a:solidFill>
              </a:rPr>
              <a:t>Mutation gates</a:t>
            </a:r>
            <a:endParaRPr lang="en-US" sz="1600" dirty="0"/>
          </a:p>
        </p:txBody>
      </p:sp>
      <p:sp>
        <p:nvSpPr>
          <p:cNvPr id="29" name="proof body 2"/>
          <p:cNvSpPr txBox="1"/>
          <p:nvPr/>
        </p:nvSpPr>
        <p:spPr>
          <a:xfrm>
            <a:off x="6629400" y="4297680"/>
            <a:ext cx="4846320" cy="548640"/>
          </a:xfrm>
          <a:prstGeom prst="rect">
            <a:avLst/>
          </a:prstGeom>
          <a:noFill/>
          <a:ln/>
        </p:spPr>
        <p:txBody>
          <a:bodyPr wrap="square" lIns="0" tIns="0" rIns="0" bIns="0" rtlCol="0" anchor="t"/>
          <a:lstStyle/>
          <a:p>
            <a:pPr indent="0" marL="0">
              <a:buNone/>
            </a:pPr>
            <a:r>
              <a:rPr lang="en-US" sz="1300" dirty="0">
                <a:solidFill>
                  <a:schemeClr val="tx1"/>
                </a:solidFill>
              </a:rPr>
              <a:t>Break a rule on purpose: cabin, registry, audio, dev gates. A test must go red.</a:t>
            </a:r>
            <a:endParaRPr lang="en-US" sz="1300" dirty="0"/>
          </a:p>
        </p:txBody>
      </p:sp>
      <p:sp>
        <p:nvSpPr>
          <p:cNvPr id="30" name="proof card 3"/>
          <p:cNvSpPr/>
          <p:nvPr/>
        </p:nvSpPr>
        <p:spPr>
          <a:xfrm>
            <a:off x="6400800" y="5029200"/>
            <a:ext cx="5239512" cy="1051560"/>
          </a:xfrm>
          <a:prstGeom prst="roundRect">
            <a:avLst>
              <a:gd name="adj" fmla="val 6957"/>
            </a:avLst>
          </a:prstGeom>
          <a:solidFill>
            <a:schemeClr val="bg2"/>
          </a:solidFill>
          <a:ln w="12700">
            <a:solidFill>
              <a:schemeClr val="bg2"/>
            </a:solidFill>
            <a:prstDash val="solid"/>
          </a:ln>
        </p:spPr>
      </p:sp>
      <p:sp>
        <p:nvSpPr>
          <p:cNvPr id="31" name="proof title 3"/>
          <p:cNvSpPr txBox="1"/>
          <p:nvPr/>
        </p:nvSpPr>
        <p:spPr>
          <a:xfrm>
            <a:off x="6629400" y="5120640"/>
            <a:ext cx="4846320" cy="365760"/>
          </a:xfrm>
          <a:prstGeom prst="rect">
            <a:avLst/>
          </a:prstGeom>
          <a:noFill/>
          <a:ln/>
        </p:spPr>
        <p:txBody>
          <a:bodyPr wrap="square" lIns="0" tIns="0" rIns="0" bIns="0" rtlCol="0" anchor="ctr"/>
          <a:lstStyle/>
          <a:p>
            <a:pPr indent="0" marL="0">
              <a:buNone/>
            </a:pPr>
            <a:r>
              <a:rPr lang="en-US" sz="1600" b="1" dirty="0">
                <a:solidFill>
                  <a:schemeClr val="tx2"/>
                </a:solidFill>
              </a:rPr>
              <a:t>Traceability</a:t>
            </a:r>
            <a:endParaRPr lang="en-US" sz="1600" dirty="0"/>
          </a:p>
        </p:txBody>
      </p:sp>
      <p:sp>
        <p:nvSpPr>
          <p:cNvPr id="32" name="proof body 3"/>
          <p:cNvSpPr txBox="1"/>
          <p:nvPr/>
        </p:nvSpPr>
        <p:spPr>
          <a:xfrm>
            <a:off x="6629400" y="5486400"/>
            <a:ext cx="4846320" cy="548640"/>
          </a:xfrm>
          <a:prstGeom prst="rect">
            <a:avLst/>
          </a:prstGeom>
          <a:noFill/>
          <a:ln/>
        </p:spPr>
        <p:txBody>
          <a:bodyPr wrap="square" lIns="0" tIns="0" rIns="0" bIns="0" rtlCol="0" anchor="t"/>
          <a:lstStyle/>
          <a:p>
            <a:pPr indent="0" marL="0">
              <a:buNone/>
            </a:pPr>
            <a:r>
              <a:rPr lang="en-US" sz="1300" dirty="0">
                <a:solidFill>
                  <a:schemeClr val="tx1"/>
                </a:solidFill>
              </a:rPr>
              <a:t>Intent → requirement → plan → test → reason code. A gap breaks the build.</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Results: 19 October 2026</a:t>
            </a:r>
            <a:endParaRPr lang="en-US" sz="3200" dirty="0"/>
          </a:p>
        </p:txBody>
      </p:sp>
      <p:sp>
        <p:nvSpPr>
          <p:cNvPr id="3" name="result 1 value"/>
          <p:cNvSpPr txBox="1"/>
          <p:nvPr/>
        </p:nvSpPr>
        <p:spPr>
          <a:xfrm>
            <a:off x="548640" y="13258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18 / 18</a:t>
            </a:r>
            <a:endParaRPr lang="en-US" sz="4800" dirty="0"/>
          </a:p>
        </p:txBody>
      </p:sp>
      <p:sp>
        <p:nvSpPr>
          <p:cNvPr id="4" name="result 1 label"/>
          <p:cNvSpPr txBox="1"/>
          <p:nvPr/>
        </p:nvSpPr>
        <p:spPr>
          <a:xfrm>
            <a:off x="548640" y="2221992"/>
            <a:ext cx="2651760" cy="640080"/>
          </a:xfrm>
          <a:prstGeom prst="rect">
            <a:avLst/>
          </a:prstGeom>
          <a:noFill/>
          <a:ln/>
        </p:spPr>
        <p:txBody>
          <a:bodyPr wrap="square" lIns="0" tIns="0" rIns="0" bIns="0" rtlCol="0" anchor="t"/>
          <a:lstStyle/>
          <a:p>
            <a:pPr indent="0" marL="0">
              <a:buNone/>
            </a:pPr>
            <a:r>
              <a:rPr lang="en-US" sz="1400" dirty="0">
                <a:solidFill>
                  <a:schemeClr val="tx1"/>
                </a:solidFill>
              </a:rPr>
              <a:t>check-all sections pass, 0 fail</a:t>
            </a:r>
            <a:endParaRPr lang="en-US" sz="1400" dirty="0"/>
          </a:p>
        </p:txBody>
      </p:sp>
      <p:sp>
        <p:nvSpPr>
          <p:cNvPr id="5" name="result 2 value"/>
          <p:cNvSpPr txBox="1"/>
          <p:nvPr/>
        </p:nvSpPr>
        <p:spPr>
          <a:xfrm>
            <a:off x="3367735" y="1325880"/>
            <a:ext cx="2651760" cy="868680"/>
          </a:xfrm>
          <a:prstGeom prst="rect">
            <a:avLst/>
          </a:prstGeom>
          <a:noFill/>
          <a:ln/>
        </p:spPr>
        <p:txBody>
          <a:bodyPr wrap="square" lIns="0" tIns="0" rIns="0" bIns="0" rtlCol="0" anchor="ctr"/>
          <a:lstStyle/>
          <a:p>
            <a:pPr indent="0" marL="0">
              <a:buNone/>
            </a:pPr>
            <a:r>
              <a:rPr lang="en-US" sz="4800" b="1" dirty="0">
                <a:solidFill>
                  <a:schemeClr val="accent1"/>
                </a:solidFill>
              </a:rPr>
              <a:t>8 / 8</a:t>
            </a:r>
            <a:endParaRPr lang="en-US" sz="4800" dirty="0"/>
          </a:p>
        </p:txBody>
      </p:sp>
      <p:sp>
        <p:nvSpPr>
          <p:cNvPr id="6" name="result 2 label"/>
          <p:cNvSpPr txBox="1"/>
          <p:nvPr/>
        </p:nvSpPr>
        <p:spPr>
          <a:xfrm>
            <a:off x="3367735" y="2221992"/>
            <a:ext cx="2651760" cy="640080"/>
          </a:xfrm>
          <a:prstGeom prst="rect">
            <a:avLst/>
          </a:prstGeom>
          <a:noFill/>
          <a:ln/>
        </p:spPr>
        <p:txBody>
          <a:bodyPr wrap="square" lIns="0" tIns="0" rIns="0" bIns="0" rtlCol="0" anchor="t"/>
          <a:lstStyle/>
          <a:p>
            <a:pPr indent="0" marL="0">
              <a:buNone/>
            </a:pPr>
            <a:r>
              <a:rPr lang="en-US" sz="1400" dirty="0">
                <a:solidFill>
                  <a:schemeClr val="tx1"/>
                </a:solidFill>
              </a:rPr>
              <a:t>conjuncts deny with their own code</a:t>
            </a:r>
            <a:endParaRPr lang="en-US" sz="1400" dirty="0"/>
          </a:p>
        </p:txBody>
      </p:sp>
      <p:sp>
        <p:nvSpPr>
          <p:cNvPr id="7" name="result 3 value"/>
          <p:cNvSpPr txBox="1"/>
          <p:nvPr/>
        </p:nvSpPr>
        <p:spPr>
          <a:xfrm>
            <a:off x="6186830" y="13258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1,950</a:t>
            </a:r>
            <a:endParaRPr lang="en-US" sz="4800" dirty="0"/>
          </a:p>
        </p:txBody>
      </p:sp>
      <p:sp>
        <p:nvSpPr>
          <p:cNvPr id="8" name="result 3 label"/>
          <p:cNvSpPr txBox="1"/>
          <p:nvPr/>
        </p:nvSpPr>
        <p:spPr>
          <a:xfrm>
            <a:off x="6186830" y="2221992"/>
            <a:ext cx="2651760" cy="640080"/>
          </a:xfrm>
          <a:prstGeom prst="rect">
            <a:avLst/>
          </a:prstGeom>
          <a:noFill/>
          <a:ln/>
        </p:spPr>
        <p:txBody>
          <a:bodyPr wrap="square" lIns="0" tIns="0" rIns="0" bIns="0" rtlCol="0" anchor="t"/>
          <a:lstStyle/>
          <a:p>
            <a:pPr indent="0" marL="0">
              <a:buNone/>
            </a:pPr>
            <a:r>
              <a:rPr lang="en-US" sz="1400" dirty="0">
                <a:solidFill>
                  <a:schemeClr val="tx1"/>
                </a:solidFill>
              </a:rPr>
              <a:t>journal decisions, chain intact</a:t>
            </a:r>
            <a:endParaRPr lang="en-US" sz="1400" dirty="0"/>
          </a:p>
        </p:txBody>
      </p:sp>
      <p:sp>
        <p:nvSpPr>
          <p:cNvPr id="9" name="result 4 value"/>
          <p:cNvSpPr txBox="1"/>
          <p:nvPr/>
        </p:nvSpPr>
        <p:spPr>
          <a:xfrm>
            <a:off x="9005926" y="13258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I1–I7</a:t>
            </a:r>
            <a:endParaRPr lang="en-US" sz="4800" dirty="0"/>
          </a:p>
        </p:txBody>
      </p:sp>
      <p:sp>
        <p:nvSpPr>
          <p:cNvPr id="10" name="result 4 label"/>
          <p:cNvSpPr txBox="1"/>
          <p:nvPr/>
        </p:nvSpPr>
        <p:spPr>
          <a:xfrm>
            <a:off x="9005926" y="2221992"/>
            <a:ext cx="2651760" cy="640080"/>
          </a:xfrm>
          <a:prstGeom prst="rect">
            <a:avLst/>
          </a:prstGeom>
          <a:noFill/>
          <a:ln/>
        </p:spPr>
        <p:txBody>
          <a:bodyPr wrap="square" lIns="0" tIns="0" rIns="0" bIns="0" rtlCol="0" anchor="t"/>
          <a:lstStyle/>
          <a:p>
            <a:pPr indent="0" marL="0">
              <a:buNone/>
            </a:pPr>
            <a:r>
              <a:rPr lang="en-US" sz="1400" dirty="0">
                <a:solidFill>
                  <a:schemeClr val="tx1"/>
                </a:solidFill>
              </a:rPr>
              <a:t>every invariant held</a:t>
            </a:r>
            <a:endParaRPr lang="en-US" sz="1400" dirty="0"/>
          </a:p>
        </p:txBody>
      </p:sp>
      <p:graphicFrame>
        <p:nvGraphicFramePr>
          <p:cNvPr id="11" name="tests chart" descr=""/>
          <p:cNvGraphicFramePr/>
          <p:nvPr/>
        </p:nvGraphicFramePr>
        <p:xfrm>
          <a:off x="548640" y="3063240"/>
          <a:ext cx="11094415" cy="31089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In the car: what was real, what was simulated</a:t>
            </a:r>
            <a:endParaRPr lang="en-US" sz="3200" dirty="0"/>
          </a:p>
        </p:txBody>
      </p:sp>
      <p:pic>
        <p:nvPicPr>
          <p:cNvPr id="3" name="still 1" descr="still 1">    </p:cNvPr>
          <p:cNvPicPr>
            <a:picLocks noChangeAspect="1"/>
          </p:cNvPicPr>
          <p:nvPr/>
        </p:nvPicPr>
        <p:blipFill>
          <a:blip r:embed="rId1"/>
          <a:stretch>
            <a:fillRect/>
          </a:stretch>
        </p:blipFill>
        <p:spPr>
          <a:xfrm>
            <a:off x="548640" y="1330452"/>
            <a:ext cx="3566160" cy="2139696"/>
          </a:xfrm>
          <a:prstGeom prst="rect">
            <a:avLst/>
          </a:prstGeom>
        </p:spPr>
      </p:pic>
      <p:sp>
        <p:nvSpPr>
          <p:cNvPr id="4" name="still caption 1"/>
          <p:cNvSpPr txBox="1"/>
          <p:nvPr/>
        </p:nvSpPr>
        <p:spPr>
          <a:xfrm>
            <a:off x="548640" y="352501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Spoken question, answer with its evidence</a:t>
            </a:r>
            <a:endParaRPr lang="en-US" sz="1200" dirty="0"/>
          </a:p>
        </p:txBody>
      </p:sp>
      <p:pic>
        <p:nvPicPr>
          <p:cNvPr id="5" name="still 2" descr="still 2">    </p:cNvPr>
          <p:cNvPicPr>
            <a:picLocks noChangeAspect="1"/>
          </p:cNvPicPr>
          <p:nvPr/>
        </p:nvPicPr>
        <p:blipFill>
          <a:blip r:embed="rId2"/>
          <a:stretch>
            <a:fillRect/>
          </a:stretch>
        </p:blipFill>
        <p:spPr>
          <a:xfrm>
            <a:off x="4297680" y="1330452"/>
            <a:ext cx="3566160" cy="2139696"/>
          </a:xfrm>
          <a:prstGeom prst="rect">
            <a:avLst/>
          </a:prstGeom>
        </p:spPr>
      </p:pic>
      <p:sp>
        <p:nvSpPr>
          <p:cNvPr id="6" name="still caption 2"/>
          <p:cNvSpPr txBox="1"/>
          <p:nvPr/>
        </p:nvSpPr>
        <p:spPr>
          <a:xfrm>
            <a:off x="4297680" y="352501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"Signs of drowsiness. Take a break soon."</a:t>
            </a:r>
            <a:endParaRPr lang="en-US" sz="1200" dirty="0"/>
          </a:p>
        </p:txBody>
      </p:sp>
      <p:pic>
        <p:nvPicPr>
          <p:cNvPr id="7" name="still 3" descr="still 3">    </p:cNvPr>
          <p:cNvPicPr>
            <a:picLocks noChangeAspect="1"/>
          </p:cNvPicPr>
          <p:nvPr/>
        </p:nvPicPr>
        <p:blipFill>
          <a:blip r:embed="rId3"/>
          <a:stretch>
            <a:fillRect/>
          </a:stretch>
        </p:blipFill>
        <p:spPr>
          <a:xfrm>
            <a:off x="8046720" y="1330452"/>
            <a:ext cx="3566160" cy="2139696"/>
          </a:xfrm>
          <a:prstGeom prst="rect">
            <a:avLst/>
          </a:prstGeom>
        </p:spPr>
      </p:pic>
      <p:sp>
        <p:nvSpPr>
          <p:cNvPr id="8" name="still caption 3"/>
          <p:cNvSpPr txBox="1"/>
          <p:nvPr/>
        </p:nvSpPr>
        <p:spPr>
          <a:xfrm>
            <a:off x="8046720" y="352501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Blurred dash cam, detections, in path</a:t>
            </a:r>
            <a:endParaRPr lang="en-US" sz="1200" dirty="0"/>
          </a:p>
        </p:txBody>
      </p:sp>
      <p:sp>
        <p:nvSpPr>
          <p:cNvPr id="9" name="real card"/>
          <p:cNvSpPr/>
          <p:nvPr/>
        </p:nvSpPr>
        <p:spPr>
          <a:xfrm>
            <a:off x="548640" y="4069080"/>
            <a:ext cx="5440680" cy="2103120"/>
          </a:xfrm>
          <a:prstGeom prst="roundRect">
            <a:avLst>
              <a:gd name="adj" fmla="val 3478"/>
            </a:avLst>
          </a:prstGeom>
          <a:solidFill>
            <a:schemeClr val="accent2"/>
          </a:solidFill>
          <a:ln w="12700">
            <a:solidFill>
              <a:schemeClr val="accent2"/>
            </a:solidFill>
            <a:prstDash val="solid"/>
          </a:ln>
        </p:spPr>
      </p:sp>
      <p:sp>
        <p:nvSpPr>
          <p:cNvPr id="10" name="real head"/>
          <p:cNvSpPr txBox="1"/>
          <p:nvPr/>
        </p:nvSpPr>
        <p:spPr>
          <a:xfrm>
            <a:off x="777240" y="4160520"/>
            <a:ext cx="4937760" cy="365760"/>
          </a:xfrm>
          <a:prstGeom prst="rect">
            <a:avLst/>
          </a:prstGeom>
          <a:noFill/>
          <a:ln/>
        </p:spPr>
        <p:txBody>
          <a:bodyPr wrap="square" lIns="0" tIns="0" rIns="0" bIns="0" rtlCol="0" anchor="ctr"/>
          <a:lstStyle/>
          <a:p>
            <a:pPr indent="0" marL="0">
              <a:buNone/>
            </a:pPr>
            <a:r>
              <a:rPr lang="en-US" sz="1700" b="1" dirty="0">
                <a:solidFill>
                  <a:schemeClr val="bg1"/>
                </a:solidFill>
              </a:rPr>
              <a:t>Real</a:t>
            </a:r>
            <a:endParaRPr lang="en-US" sz="1700" dirty="0"/>
          </a:p>
        </p:txBody>
      </p:sp>
      <p:sp>
        <p:nvSpPr>
          <p:cNvPr id="11" name="real body"/>
          <p:cNvSpPr txBox="1"/>
          <p:nvPr/>
        </p:nvSpPr>
        <p:spPr>
          <a:xfrm>
            <a:off x="777240" y="4572000"/>
            <a:ext cx="4983480" cy="1463040"/>
          </a:xfrm>
          <a:prstGeom prst="rect">
            <a:avLst/>
          </a:prstGeom>
          <a:noFill/>
          <a:ln/>
        </p:spPr>
        <p:txBody>
          <a:bodyPr wrap="square" lIns="0" tIns="0" rIns="0" bIns="0" rtlCol="0" anchor="t"/>
          <a:lstStyle/>
          <a:p>
            <a:pPr indent="0" marL="0">
              <a:buNone/>
            </a:pPr>
            <a:r>
              <a:rPr lang="en-US" sz="1400" dirty="0">
                <a:solidFill>
                  <a:schemeClr val="bg1"/>
                </a:solidFill>
              </a:rPr>
              <a:t>Dash cam and road view · driver webcam and monitoring · microphone, speech, spoken answers · Bluetooth to the car's speakers · both boards on their own battery</a:t>
            </a:r>
            <a:endParaRPr lang="en-US" sz="1400" dirty="0"/>
          </a:p>
        </p:txBody>
      </p:sp>
      <p:sp>
        <p:nvSpPr>
          <p:cNvPr id="12" name="sim card"/>
          <p:cNvSpPr/>
          <p:nvPr/>
        </p:nvSpPr>
        <p:spPr>
          <a:xfrm>
            <a:off x="6172200" y="4069080"/>
            <a:ext cx="5440680" cy="2103120"/>
          </a:xfrm>
          <a:prstGeom prst="roundRect">
            <a:avLst>
              <a:gd name="adj" fmla="val 3478"/>
            </a:avLst>
          </a:prstGeom>
          <a:solidFill>
            <a:schemeClr val="bg1"/>
          </a:solidFill>
          <a:ln w="12700">
            <a:solidFill>
              <a:schemeClr val="accent1"/>
            </a:solidFill>
            <a:prstDash val="solid"/>
          </a:ln>
        </p:spPr>
      </p:sp>
      <p:sp>
        <p:nvSpPr>
          <p:cNvPr id="13" name="sim head"/>
          <p:cNvSpPr txBox="1"/>
          <p:nvPr/>
        </p:nvSpPr>
        <p:spPr>
          <a:xfrm>
            <a:off x="6400800" y="4160520"/>
            <a:ext cx="4937760" cy="365760"/>
          </a:xfrm>
          <a:prstGeom prst="rect">
            <a:avLst/>
          </a:prstGeom>
          <a:noFill/>
          <a:ln/>
        </p:spPr>
        <p:txBody>
          <a:bodyPr wrap="square" lIns="0" tIns="0" rIns="0" bIns="0" rtlCol="0" anchor="ctr"/>
          <a:lstStyle/>
          <a:p>
            <a:pPr indent="0" marL="0">
              <a:buNone/>
            </a:pPr>
            <a:r>
              <a:rPr lang="en-US" sz="1700" b="1" dirty="0">
                <a:solidFill>
                  <a:schemeClr val="tx2"/>
                </a:solidFill>
              </a:rPr>
              <a:t>Simulated</a:t>
            </a:r>
            <a:endParaRPr lang="en-US" sz="1700" dirty="0"/>
          </a:p>
        </p:txBody>
      </p:sp>
      <p:sp>
        <p:nvSpPr>
          <p:cNvPr id="14" name="sim body"/>
          <p:cNvSpPr txBox="1"/>
          <p:nvPr/>
        </p:nvSpPr>
        <p:spPr>
          <a:xfrm>
            <a:off x="6400800" y="4572000"/>
            <a:ext cx="4983480" cy="1463040"/>
          </a:xfrm>
          <a:prstGeom prst="rect">
            <a:avLst/>
          </a:prstGeom>
          <a:noFill/>
          <a:ln/>
        </p:spPr>
        <p:txBody>
          <a:bodyPr wrap="square" lIns="0" tIns="0" rIns="0" bIns="0" rtlCol="0" anchor="t"/>
          <a:lstStyle/>
          <a:p>
            <a:pPr indent="0" marL="0">
              <a:buNone/>
            </a:pPr>
            <a:r>
              <a:rPr lang="en-US" sz="1400" dirty="0">
                <a:solidFill>
                  <a:schemeClr val="tx1"/>
                </a:solidFill>
              </a:rPr>
              <a:t>The vehicle signals the agent read: speed, battery %, coolant, fault codes, from a CAN simulator. The screen marks them estimate / replayed. The car's OBD-II port is the next stage.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What the drive measured</a:t>
            </a:r>
            <a:endParaRPr lang="en-US" sz="3200" dirty="0"/>
          </a:p>
        </p:txBody>
      </p:sp>
      <p:graphicFrame>
        <p:nvGraphicFramePr>
          <p:cNvPr id="20" name="drive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2377440"/>
                <a:gridCol w="3017520"/>
                <a:gridCol w="2770632"/>
              </a:tblGrid>
              <a:tr h="438912">
                <a:tc>
                  <a:txBody>
                    <a:bodyPr/>
                    <a:lstStyle/>
                    <a:p>
                      <a:pPr indent="0" marL="0">
                        <a:buNone/>
                      </a:pP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E1A2B"/>
                    </a:solidFill>
                  </a:tcPr>
                </a:tc>
                <a:tc>
                  <a:txBody>
                    <a:bodyPr/>
                    <a:lstStyle/>
                    <a:p>
                      <a:pPr indent="0" marL="0">
                        <a:buNone/>
                      </a:pPr>
                      <a:r>
                        <a:rPr lang="en-US" sz="1400" b="1" dirty="0">
                          <a:solidFill>
                            <a:srgbClr val="FFFFFF"/>
                          </a:solidFill>
                        </a:rPr>
                        <a:t>Drive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E1A2B"/>
                    </a:solidFill>
                  </a:tcPr>
                </a:tc>
                <a:tc>
                  <a:txBody>
                    <a:bodyPr/>
                    <a:lstStyle/>
                    <a:p>
                      <a:pPr indent="0" marL="0">
                        <a:buNone/>
                      </a:pPr>
                      <a:r>
                        <a:rPr lang="en-US" sz="1400" b="1" dirty="0">
                          <a:solidFill>
                            <a:srgbClr val="FFFFFF"/>
                          </a:solidFill>
                        </a:rPr>
                        <a:t>Drive 2</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E1A2B"/>
                    </a:solidFill>
                  </a:tcPr>
                </a:tc>
                <a:tc>
                  <a:txBody>
                    <a:bodyPr/>
                    <a:lstStyle/>
                    <a:p>
                      <a:pPr indent="0" marL="0">
                        <a:buNone/>
                      </a:pPr>
                      <a:r>
                        <a:rPr lang="en-US" sz="1400" b="1" dirty="0">
                          <a:solidFill>
                            <a:srgbClr val="FFFFFF"/>
                          </a:solidFill>
                        </a:rPr>
                        <a:t>Drive 3 · camera straightened</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E1A2B"/>
                    </a:solidFill>
                  </a:tcPr>
                </a:tc>
              </a:tr>
              <a:tr h="438912">
                <a:tc>
                  <a:txBody>
                    <a:bodyPr/>
                    <a:lstStyle/>
                    <a:p>
                      <a:pPr indent="0" marL="0">
                        <a:buNone/>
                      </a:pPr>
                      <a:r>
                        <a:rPr lang="en-US" sz="1400" dirty="0">
                          <a:solidFill>
                            <a:srgbClr val="1B2433"/>
                          </a:solidFill>
                        </a:rPr>
                        <a:t>Duration</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5 min 41 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29 min 5 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6 min 53 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Pictures processed</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3,253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17,386</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4,116</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Rate (blur on)</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9.8 fps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9.98 fps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9.97 fps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Camera mount</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found at 42 s, lost at 64 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out of range: "straighten the camera"</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found after 74 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Lane probability, left near</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0.01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0.14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0.35</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Lead car seen</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0 %</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1 %</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13 %</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38912">
                <a:tc>
                  <a:txBody>
                    <a:bodyPr/>
                    <a:lstStyle/>
                    <a:p>
                      <a:pPr indent="0" marL="0">
                        <a:buNone/>
                      </a:pPr>
                      <a:r>
                        <a:rPr lang="en-US" sz="1400" dirty="0">
                          <a:solidFill>
                            <a:srgbClr val="1B2433"/>
                          </a:solidFill>
                        </a:rPr>
                        <a:t>Boxes flagged in path</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601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400" dirty="0">
                          <a:solidFill>
                            <a:srgbClr val="1B2433"/>
                          </a:solidFill>
                        </a:rPr>
                        <a:t>149</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4" name="drive note good"/>
          <p:cNvSpPr/>
          <p:nvPr/>
        </p:nvSpPr>
        <p:spPr>
          <a:xfrm>
            <a:off x="548640" y="5074920"/>
            <a:ext cx="5440680" cy="1097280"/>
          </a:xfrm>
          <a:prstGeom prst="roundRect">
            <a:avLst>
              <a:gd name="adj" fmla="val 6667"/>
            </a:avLst>
          </a:prstGeom>
          <a:solidFill>
            <a:schemeClr val="bg2"/>
          </a:solidFill>
          <a:ln w="12700">
            <a:solidFill>
              <a:schemeClr val="bg2"/>
            </a:solidFill>
            <a:prstDash val="solid"/>
          </a:ln>
        </p:spPr>
      </p:sp>
      <p:sp>
        <p:nvSpPr>
          <p:cNvPr id="5" name="drive good"/>
          <p:cNvSpPr txBox="1"/>
          <p:nvPr/>
        </p:nvSpPr>
        <p:spPr>
          <a:xfrm>
            <a:off x="777240" y="5138928"/>
            <a:ext cx="5029200" cy="960120"/>
          </a:xfrm>
          <a:prstGeom prst="rect">
            <a:avLst/>
          </a:prstGeom>
          <a:noFill/>
          <a:ln/>
        </p:spPr>
        <p:txBody>
          <a:bodyPr wrap="square" lIns="0" tIns="0" rIns="0" bIns="0" rtlCol="0" anchor="ctr"/>
          <a:lstStyle/>
          <a:p>
            <a:pPr indent="0" marL="0">
              <a:buNone/>
            </a:pPr>
            <a:r>
              <a:rPr lang="en-US" sz="1400" dirty="0">
                <a:solidFill>
                  <a:schemeClr val="tx1"/>
                </a:solidFill>
              </a:rPr>
              <a:t>It refused to calibrate a crooked camera and said why. Once the camera was straightened, the mount was found in 74 s.</a:t>
            </a:r>
            <a:endParaRPr lang="en-US" sz="1400" dirty="0"/>
          </a:p>
        </p:txBody>
      </p:sp>
      <p:sp>
        <p:nvSpPr>
          <p:cNvPr id="6" name="drive note open"/>
          <p:cNvSpPr/>
          <p:nvPr/>
        </p:nvSpPr>
        <p:spPr>
          <a:xfrm>
            <a:off x="6172200" y="5074920"/>
            <a:ext cx="5440680" cy="1097280"/>
          </a:xfrm>
          <a:prstGeom prst="roundRect">
            <a:avLst>
              <a:gd name="adj" fmla="val 6667"/>
            </a:avLst>
          </a:prstGeom>
          <a:solidFill>
            <a:schemeClr val="bg2"/>
          </a:solidFill>
          <a:ln w="12700">
            <a:solidFill>
              <a:schemeClr val="bg2"/>
            </a:solidFill>
            <a:prstDash val="solid"/>
          </a:ln>
        </p:spPr>
      </p:sp>
      <p:sp>
        <p:nvSpPr>
          <p:cNvPr id="7" name="drive open"/>
          <p:cNvSpPr txBox="1"/>
          <p:nvPr/>
        </p:nvSpPr>
        <p:spPr>
          <a:xfrm>
            <a:off x="6400800" y="5138928"/>
            <a:ext cx="5029200" cy="960120"/>
          </a:xfrm>
          <a:prstGeom prst="rect">
            <a:avLst/>
          </a:prstGeom>
          <a:noFill/>
          <a:ln/>
        </p:spPr>
        <p:txBody>
          <a:bodyPr wrap="square" lIns="0" tIns="0" rIns="0" bIns="0" rtlCol="0" anchor="ctr"/>
          <a:lstStyle/>
          <a:p>
            <a:pPr indent="0" marL="0">
              <a:buNone/>
            </a:pPr>
            <a:r>
              <a:rPr lang="en-US" sz="1400" dirty="0">
                <a:solidFill>
                  <a:schemeClr val="tx1"/>
                </a:solidFill>
              </a:rPr>
              <a:t>Not done on the day: OBD-II in the car, lens calibration, a GNSS fix. Each is said, not hidden.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Built with an AI coding agent, inside gates</a:t>
            </a:r>
            <a:endParaRPr lang="en-US" sz="3200" dirty="0"/>
          </a:p>
        </p:txBody>
      </p:sp>
      <p:pic>
        <p:nvPicPr>
          <p:cNvPr id="3" name="AI-SDLC loop diagram" descr="AI-SDLC loop diagram">    </p:cNvPr>
          <p:cNvPicPr>
            <a:picLocks noChangeAspect="1"/>
          </p:cNvPicPr>
          <p:nvPr/>
        </p:nvPicPr>
        <p:blipFill>
          <a:blip r:embed="rId1"/>
          <a:stretch>
            <a:fillRect/>
          </a:stretch>
        </p:blipFill>
        <p:spPr>
          <a:xfrm>
            <a:off x="548640" y="1299623"/>
            <a:ext cx="11094415" cy="1424115"/>
          </a:xfrm>
          <a:prstGeom prst="rect">
            <a:avLst/>
          </a:prstGeom>
        </p:spPr>
      </p:pic>
      <p:sp>
        <p:nvSpPr>
          <p:cNvPr id="4" name="sdlc stat 1 value"/>
          <p:cNvSpPr txBox="1"/>
          <p:nvPr/>
        </p:nvSpPr>
        <p:spPr>
          <a:xfrm>
            <a:off x="548640" y="29260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212</a:t>
            </a:r>
            <a:endParaRPr lang="en-US" sz="4800" dirty="0"/>
          </a:p>
        </p:txBody>
      </p:sp>
      <p:sp>
        <p:nvSpPr>
          <p:cNvPr id="5" name="sdlc stat 1 label"/>
          <p:cNvSpPr txBox="1"/>
          <p:nvPr/>
        </p:nvSpPr>
        <p:spPr>
          <a:xfrm>
            <a:off x="548640" y="3822192"/>
            <a:ext cx="2651760" cy="640080"/>
          </a:xfrm>
          <a:prstGeom prst="rect">
            <a:avLst/>
          </a:prstGeom>
          <a:noFill/>
          <a:ln/>
        </p:spPr>
        <p:txBody>
          <a:bodyPr wrap="square" lIns="0" tIns="0" rIns="0" bIns="0" rtlCol="0" anchor="t"/>
          <a:lstStyle/>
          <a:p>
            <a:pPr indent="0" marL="0">
              <a:buNone/>
            </a:pPr>
            <a:r>
              <a:rPr lang="en-US" sz="1400" dirty="0">
                <a:solidFill>
                  <a:schemeClr val="tx1"/>
                </a:solidFill>
              </a:rPr>
              <a:t>commits, 204 co-authored with the AI agent</a:t>
            </a:r>
            <a:endParaRPr lang="en-US" sz="1400" dirty="0"/>
          </a:p>
        </p:txBody>
      </p:sp>
      <p:sp>
        <p:nvSpPr>
          <p:cNvPr id="6" name="sdlc stat 2 value"/>
          <p:cNvSpPr txBox="1"/>
          <p:nvPr/>
        </p:nvSpPr>
        <p:spPr>
          <a:xfrm>
            <a:off x="3367735" y="29260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54</a:t>
            </a:r>
            <a:endParaRPr lang="en-US" sz="4800" dirty="0"/>
          </a:p>
        </p:txBody>
      </p:sp>
      <p:sp>
        <p:nvSpPr>
          <p:cNvPr id="7" name="sdlc stat 2 label"/>
          <p:cNvSpPr txBox="1"/>
          <p:nvPr/>
        </p:nvSpPr>
        <p:spPr>
          <a:xfrm>
            <a:off x="3367735" y="3822192"/>
            <a:ext cx="2651760" cy="640080"/>
          </a:xfrm>
          <a:prstGeom prst="rect">
            <a:avLst/>
          </a:prstGeom>
          <a:noFill/>
          <a:ln/>
        </p:spPr>
        <p:txBody>
          <a:bodyPr wrap="square" lIns="0" tIns="0" rIns="0" bIns="0" rtlCol="0" anchor="t"/>
          <a:lstStyle/>
          <a:p>
            <a:pPr indent="0" marL="0">
              <a:buNone/>
            </a:pPr>
            <a:r>
              <a:rPr lang="en-US" sz="1400" dirty="0">
                <a:solidFill>
                  <a:schemeClr val="tx1"/>
                </a:solidFill>
              </a:rPr>
              <a:t>intents · 47 specs · 10 plans</a:t>
            </a:r>
            <a:endParaRPr lang="en-US" sz="1400" dirty="0"/>
          </a:p>
        </p:txBody>
      </p:sp>
      <p:sp>
        <p:nvSpPr>
          <p:cNvPr id="8" name="sdlc stat 3 value"/>
          <p:cNvSpPr txBox="1"/>
          <p:nvPr/>
        </p:nvSpPr>
        <p:spPr>
          <a:xfrm>
            <a:off x="6186830" y="29260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424</a:t>
            </a:r>
            <a:endParaRPr lang="en-US" sz="4800" dirty="0"/>
          </a:p>
        </p:txBody>
      </p:sp>
      <p:sp>
        <p:nvSpPr>
          <p:cNvPr id="9" name="sdlc stat 3 label"/>
          <p:cNvSpPr txBox="1"/>
          <p:nvPr/>
        </p:nvSpPr>
        <p:spPr>
          <a:xfrm>
            <a:off x="6186830" y="3822192"/>
            <a:ext cx="2651760" cy="640080"/>
          </a:xfrm>
          <a:prstGeom prst="rect">
            <a:avLst/>
          </a:prstGeom>
          <a:noFill/>
          <a:ln/>
        </p:spPr>
        <p:txBody>
          <a:bodyPr wrap="square" lIns="0" tIns="0" rIns="0" bIns="0" rtlCol="0" anchor="t"/>
          <a:lstStyle/>
          <a:p>
            <a:pPr indent="0" marL="0">
              <a:buNone/>
            </a:pPr>
            <a:r>
              <a:rPr lang="en-US" sz="1400" dirty="0">
                <a:solidFill>
                  <a:schemeClr val="tx1"/>
                </a:solidFill>
              </a:rPr>
              <a:t>requirements traced to a test and a code (19 Oct)</a:t>
            </a:r>
            <a:endParaRPr lang="en-US" sz="1400" dirty="0"/>
          </a:p>
        </p:txBody>
      </p:sp>
      <p:sp>
        <p:nvSpPr>
          <p:cNvPr id="10" name="sdlc stat 4 value"/>
          <p:cNvSpPr txBox="1"/>
          <p:nvPr/>
        </p:nvSpPr>
        <p:spPr>
          <a:xfrm>
            <a:off x="9005926" y="2926080"/>
            <a:ext cx="2651760" cy="868680"/>
          </a:xfrm>
          <a:prstGeom prst="rect">
            <a:avLst/>
          </a:prstGeom>
          <a:noFill/>
          <a:ln/>
        </p:spPr>
        <p:txBody>
          <a:bodyPr wrap="square" lIns="0" tIns="0" rIns="0" bIns="0" rtlCol="0" anchor="ctr"/>
          <a:lstStyle/>
          <a:p>
            <a:pPr indent="0" marL="0">
              <a:buNone/>
            </a:pPr>
            <a:r>
              <a:rPr lang="en-US" sz="4800" b="1" dirty="0">
                <a:solidFill>
                  <a:schemeClr val="tx2"/>
                </a:solidFill>
              </a:rPr>
              <a:t>7 weeks</a:t>
            </a:r>
            <a:endParaRPr lang="en-US" sz="4800" dirty="0"/>
          </a:p>
        </p:txBody>
      </p:sp>
      <p:sp>
        <p:nvSpPr>
          <p:cNvPr id="11" name="sdlc stat 4 label"/>
          <p:cNvSpPr txBox="1"/>
          <p:nvPr/>
        </p:nvSpPr>
        <p:spPr>
          <a:xfrm>
            <a:off x="9005926" y="3822192"/>
            <a:ext cx="2651760" cy="640080"/>
          </a:xfrm>
          <a:prstGeom prst="rect">
            <a:avLst/>
          </a:prstGeom>
          <a:noFill/>
          <a:ln/>
        </p:spPr>
        <p:txBody>
          <a:bodyPr wrap="square" lIns="0" tIns="0" rIns="0" bIns="0" rtlCol="0" anchor="t"/>
          <a:lstStyle/>
          <a:p>
            <a:pPr indent="0" marL="0">
              <a:buNone/>
            </a:pPr>
            <a:r>
              <a:rPr lang="en-US" sz="1400" dirty="0">
                <a:solidFill>
                  <a:schemeClr val="tx1"/>
                </a:solidFill>
              </a:rPr>
              <a:t>3 Sep → 19 Oct 2026</a:t>
            </a:r>
            <a:endParaRPr lang="en-US" sz="1400" dirty="0"/>
          </a:p>
        </p:txBody>
      </p:sp>
      <p:sp>
        <p:nvSpPr>
          <p:cNvPr id="12" name="gates card"/>
          <p:cNvSpPr/>
          <p:nvPr/>
        </p:nvSpPr>
        <p:spPr>
          <a:xfrm>
            <a:off x="548640" y="4800600"/>
            <a:ext cx="11094415" cy="1371600"/>
          </a:xfrm>
          <a:prstGeom prst="roundRect">
            <a:avLst>
              <a:gd name="adj" fmla="val 5333"/>
            </a:avLst>
          </a:prstGeom>
          <a:solidFill>
            <a:schemeClr val="tx2"/>
          </a:solidFill>
          <a:ln w="12700">
            <a:solidFill>
              <a:schemeClr val="tx2"/>
            </a:solidFill>
            <a:prstDash val="solid"/>
          </a:ln>
        </p:spPr>
      </p:sp>
      <p:sp>
        <p:nvSpPr>
          <p:cNvPr id="13" name="gates head"/>
          <p:cNvSpPr txBox="1"/>
          <p:nvPr/>
        </p:nvSpPr>
        <p:spPr>
          <a:xfrm>
            <a:off x="822960" y="4892040"/>
            <a:ext cx="10545775" cy="365760"/>
          </a:xfrm>
          <a:prstGeom prst="rect">
            <a:avLst/>
          </a:prstGeom>
          <a:noFill/>
          <a:ln/>
        </p:spPr>
        <p:txBody>
          <a:bodyPr wrap="square" lIns="0" tIns="0" rIns="0" bIns="0" rtlCol="0" anchor="ctr"/>
          <a:lstStyle/>
          <a:p>
            <a:pPr indent="0" marL="0">
              <a:buNone/>
            </a:pPr>
            <a:r>
              <a:rPr lang="en-US" sz="1500" b="1" dirty="0">
                <a:solidFill>
                  <a:schemeClr val="accent1"/>
                </a:solidFill>
              </a:rPr>
              <a:t>Pre-edit hooks stop the coding agent before it writes:</a:t>
            </a:r>
            <a:endParaRPr lang="en-US" sz="1500" dirty="0"/>
          </a:p>
        </p:txBody>
      </p:sp>
      <p:sp>
        <p:nvSpPr>
          <p:cNvPr id="14" name="gates body"/>
          <p:cNvSpPr txBox="1"/>
          <p:nvPr/>
        </p:nvSpPr>
        <p:spPr>
          <a:xfrm>
            <a:off x="822960" y="5257800"/>
            <a:ext cx="10545775" cy="868680"/>
          </a:xfrm>
          <a:prstGeom prst="rect">
            <a:avLst/>
          </a:prstGeom>
          <a:noFill/>
          <a:ln/>
        </p:spPr>
        <p:txBody>
          <a:bodyPr wrap="square" lIns="0" tIns="0" rIns="0" bIns="0" rtlCol="0" anchor="t"/>
          <a:lstStyle/>
          <a:p>
            <a:pPr indent="0" marL="0">
              <a:buNone/>
            </a:pPr>
            <a:r>
              <a:rPr lang="en-US" sz="1400" dirty="0">
                <a:solidFill>
                  <a:schemeClr val="bg1"/>
                </a:solidFill>
              </a:rPr>
              <a:t>a gate importing CAN or MCP · a camera frame escaping · a C3 capability · a flash path · an unsigned model slot · a push to main · a cloud SDK, or actuation outside an admitted path · protocol IDs in a capability. Each gate is probed both ways in CI.</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nchor="ctr"/>
          <a:lstStyle/>
          <a:p>
            <a:pPr algn="l" indent="0" marL="0">
              <a:buNone/>
            </a:pPr>
            <a:r>
              <a:rPr lang="en-US" sz="3200" b="1" dirty="0">
                <a:solidFill>
                  <a:schemeClr val="tx2"/>
                </a:solidFill>
              </a:rPr>
              <a:t>Honest limits, and what comes next</a:t>
            </a:r>
            <a:endParaRPr lang="en-US" sz="3200" dirty="0"/>
          </a:p>
        </p:txBody>
      </p:sp>
      <p:sp>
        <p:nvSpPr>
          <p:cNvPr id="3" name="limits head"/>
          <p:cNvSpPr txBox="1"/>
          <p:nvPr/>
        </p:nvSpPr>
        <p:spPr>
          <a:xfrm>
            <a:off x="548640" y="1325880"/>
            <a:ext cx="5394960" cy="365760"/>
          </a:xfrm>
          <a:prstGeom prst="rect">
            <a:avLst/>
          </a:prstGeom>
          <a:noFill/>
          <a:ln/>
        </p:spPr>
        <p:txBody>
          <a:bodyPr wrap="square" lIns="0" tIns="0" rIns="0" bIns="0" rtlCol="0" anchor="ctr"/>
          <a:lstStyle/>
          <a:p>
            <a:pPr indent="0" marL="0">
              <a:buNone/>
            </a:pPr>
            <a:r>
              <a:rPr lang="en-US" sz="1800" b="1" dirty="0">
                <a:solidFill>
                  <a:schemeClr val="accent3"/>
                </a:solidFill>
              </a:rPr>
              <a:t>Limits</a:t>
            </a:r>
            <a:endParaRPr lang="en-US" sz="1800" dirty="0"/>
          </a:p>
        </p:txBody>
      </p:sp>
      <p:sp>
        <p:nvSpPr>
          <p:cNvPr id="4" name="limits list"/>
          <p:cNvSpPr txBox="1"/>
          <p:nvPr/>
        </p:nvSpPr>
        <p:spPr>
          <a:xfrm>
            <a:off x="548640" y="1783080"/>
            <a:ext cx="5394960" cy="320040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A simulated vehicle bus; OBD-II not yet in a car</a:t>
            </a:r>
            <a:endParaRPr lang="en-US" sz="1500" dirty="0"/>
          </a:p>
          <a:p>
            <a:pPr marL="342900" indent="-342900">
              <a:spcAft>
                <a:spcPts val="1000"/>
              </a:spcAft>
              <a:buSzPct val="100000"/>
              <a:buChar char="•"/>
            </a:pPr>
            <a:r>
              <a:rPr lang="en-US" sz="1500" dirty="0">
                <a:solidFill>
                  <a:schemeClr val="tx1"/>
                </a:solidFill>
              </a:rPr>
              <a:t>Live permit is C0 (read-only); C2 proven in a proof of concept</a:t>
            </a:r>
            <a:endParaRPr lang="en-US" sz="1500" dirty="0"/>
          </a:p>
          <a:p>
            <a:pPr marL="342900" indent="-342900">
              <a:spcAft>
                <a:spcPts val="1000"/>
              </a:spcAft>
              <a:buSzPct val="100000"/>
              <a:buChar char="•"/>
            </a:pPr>
            <a:r>
              <a:rPr lang="en-US" sz="1500" dirty="0">
                <a:solidFill>
                  <a:schemeClr val="tx1"/>
                </a:solidFill>
              </a:rPr>
              <a:t>Journal tamper-evident, not anchored or signed</a:t>
            </a:r>
            <a:endParaRPr lang="en-US" sz="1500" dirty="0"/>
          </a:p>
          <a:p>
            <a:pPr marL="342900" indent="-342900">
              <a:spcAft>
                <a:spcPts val="1000"/>
              </a:spcAft>
              <a:buSzPct val="100000"/>
              <a:buChar char="•"/>
            </a:pPr>
            <a:r>
              <a:rPr lang="en-US" sz="1500" dirty="0">
                <a:solidFill>
                  <a:schemeClr val="tx1"/>
                </a:solidFill>
              </a:rPr>
              <a:t>Driver monitoring not validated on drowsy drivers</a:t>
            </a:r>
            <a:endParaRPr lang="en-US" sz="1500" dirty="0"/>
          </a:p>
          <a:p>
            <a:pPr marL="342900" indent="-342900">
              <a:spcAft>
                <a:spcPts val="1000"/>
              </a:spcAft>
              <a:buSzPct val="100000"/>
              <a:buChar char="•"/>
            </a:pPr>
            <a:r>
              <a:rPr lang="en-US" sz="1500" dirty="0">
                <a:solidFill>
                  <a:schemeClr val="tx1"/>
                </a:solidFill>
              </a:rPr>
              <a:t>One car, one session, one operator</a:t>
            </a:r>
            <a:endParaRPr lang="en-US" sz="1500" dirty="0"/>
          </a:p>
          <a:p>
            <a:pPr marL="342900" indent="-342900">
              <a:spcAft>
                <a:spcPts val="1000"/>
              </a:spcAft>
              <a:buSzPct val="100000"/>
              <a:buChar char="•"/>
            </a:pPr>
            <a:r>
              <a:rPr lang="en-US" sz="1500" dirty="0">
                <a:solidFill>
                  <a:schemeClr val="tx1"/>
                </a:solidFill>
              </a:rPr>
              <a:t>No ISO 26262 or ISO/SAE 21434 claim</a:t>
            </a:r>
            <a:endParaRPr lang="en-US" sz="1500" dirty="0"/>
          </a:p>
        </p:txBody>
      </p:sp>
      <p:sp>
        <p:nvSpPr>
          <p:cNvPr id="5" name="next head"/>
          <p:cNvSpPr txBox="1"/>
          <p:nvPr/>
        </p:nvSpPr>
        <p:spPr>
          <a:xfrm>
            <a:off x="6355080" y="1325880"/>
            <a:ext cx="5285232" cy="365760"/>
          </a:xfrm>
          <a:prstGeom prst="rect">
            <a:avLst/>
          </a:prstGeom>
          <a:noFill/>
          <a:ln/>
        </p:spPr>
        <p:txBody>
          <a:bodyPr wrap="square" lIns="0" tIns="0" rIns="0" bIns="0" rtlCol="0" anchor="ctr"/>
          <a:lstStyle/>
          <a:p>
            <a:pPr indent="0" marL="0">
              <a:buNone/>
            </a:pPr>
            <a:r>
              <a:rPr lang="en-US" sz="1800" b="1" dirty="0">
                <a:solidFill>
                  <a:schemeClr val="accent2"/>
                </a:solidFill>
              </a:rPr>
              <a:t>Next</a:t>
            </a:r>
            <a:endParaRPr lang="en-US" sz="1800" dirty="0"/>
          </a:p>
        </p:txBody>
      </p:sp>
      <p:sp>
        <p:nvSpPr>
          <p:cNvPr id="6" name="next list"/>
          <p:cNvSpPr txBox="1"/>
          <p:nvPr/>
        </p:nvSpPr>
        <p:spPr>
          <a:xfrm>
            <a:off x="6355080" y="1783080"/>
            <a:ext cx="5285232" cy="320040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500" dirty="0">
                <a:solidFill>
                  <a:schemeClr val="tx1"/>
                </a:solidFill>
              </a:rPr>
              <a:t>OBD-II in the car: listen-only, then reads</a:t>
            </a:r>
            <a:endParaRPr lang="en-US" sz="1500" dirty="0"/>
          </a:p>
          <a:p>
            <a:pPr marL="342900" indent="-342900">
              <a:spcAft>
                <a:spcPts val="1000"/>
              </a:spcAft>
              <a:buSzPct val="100000"/>
              <a:buFont typeface="+mj-lt"/>
              <a:buAutoNum type="arabicPeriod" startAt="1"/>
            </a:pPr>
            <a:r>
              <a:rPr lang="en-US" sz="1500" dirty="0">
                <a:solidFill>
                  <a:schemeClr val="tx1"/>
                </a:solidFill>
              </a:rPr>
              <a:t>Calibrate the lens; drive a marked road</a:t>
            </a:r>
            <a:endParaRPr lang="en-US" sz="1500" dirty="0"/>
          </a:p>
          <a:p>
            <a:pPr marL="342900" indent="-342900">
              <a:spcAft>
                <a:spcPts val="1000"/>
              </a:spcAft>
              <a:buSzPct val="100000"/>
              <a:buFont typeface="+mj-lt"/>
              <a:buAutoNum type="arabicPeriod" startAt="1"/>
            </a:pPr>
            <a:r>
              <a:rPr lang="en-US" sz="1500" dirty="0">
                <a:solidFill>
                  <a:schemeClr val="tx1"/>
                </a:solidFill>
              </a:rPr>
              <a:t>C2 on the live path with a real writ issuer</a:t>
            </a:r>
            <a:endParaRPr lang="en-US" sz="1500" dirty="0"/>
          </a:p>
          <a:p>
            <a:pPr marL="342900" indent="-342900">
              <a:spcAft>
                <a:spcPts val="1000"/>
              </a:spcAft>
              <a:buSzPct val="100000"/>
              <a:buFont typeface="+mj-lt"/>
              <a:buAutoNum type="arabicPeriod" startAt="1"/>
            </a:pPr>
            <a:r>
              <a:rPr lang="en-US" sz="1500" dirty="0">
                <a:solidFill>
                  <a:schemeClr val="tx1"/>
                </a:solidFill>
              </a:rPr>
              <a:t>Anchor the journal; sign the receipts</a:t>
            </a:r>
            <a:endParaRPr lang="en-US" sz="1500" dirty="0"/>
          </a:p>
          <a:p>
            <a:pPr marL="342900" indent="-342900">
              <a:spcAft>
                <a:spcPts val="1000"/>
              </a:spcAft>
              <a:buSzPct val="100000"/>
              <a:buFont typeface="+mj-lt"/>
              <a:buAutoNum type="arabicPeriod" startAt="1"/>
            </a:pPr>
            <a:r>
              <a:rPr lang="en-US" sz="1500" dirty="0">
                <a:solidFill>
                  <a:schemeClr val="tx1"/>
                </a:solidFill>
              </a:rPr>
              <a:t>Wire the verdict-sequence shadow gate</a:t>
            </a:r>
            <a:endParaRPr lang="en-US" sz="1500" dirty="0"/>
          </a:p>
          <a:p>
            <a:pPr marL="342900" indent="-342900">
              <a:spcAft>
                <a:spcPts val="1000"/>
              </a:spcAft>
              <a:buSzPct val="100000"/>
              <a:buFont typeface="+mj-lt"/>
              <a:buAutoNum type="arabicPeriod" startAt="1"/>
            </a:pPr>
            <a:r>
              <a:rPr lang="en-US" sz="1500" dirty="0">
                <a:solidFill>
                  <a:schemeClr val="tx1"/>
                </a:solidFill>
              </a:rPr>
              <a:t>Release MHS on its own, with its paper</a:t>
            </a:r>
            <a:endParaRPr lang="en-US" sz="1500" dirty="0"/>
          </a:p>
        </p:txBody>
      </p:sp>
      <p:sp>
        <p:nvSpPr>
          <p:cNvPr id="7" name="maxim card"/>
          <p:cNvSpPr/>
          <p:nvPr/>
        </p:nvSpPr>
        <p:spPr>
          <a:xfrm>
            <a:off x="548640" y="5120640"/>
            <a:ext cx="11094415" cy="1051560"/>
          </a:xfrm>
          <a:prstGeom prst="roundRect">
            <a:avLst>
              <a:gd name="adj" fmla="val 6957"/>
            </a:avLst>
          </a:prstGeom>
          <a:solidFill>
            <a:schemeClr val="tx2"/>
          </a:solidFill>
          <a:ln w="12700">
            <a:solidFill>
              <a:schemeClr val="tx2"/>
            </a:solidFill>
            <a:prstDash val="solid"/>
          </a:ln>
        </p:spPr>
      </p:sp>
      <p:sp>
        <p:nvSpPr>
          <p:cNvPr id="8" name="maxim"/>
          <p:cNvSpPr txBox="1"/>
          <p:nvPr/>
        </p:nvSpPr>
        <p:spPr>
          <a:xfrm>
            <a:off x="822960" y="5120640"/>
            <a:ext cx="10545775" cy="1051560"/>
          </a:xfrm>
          <a:prstGeom prst="rect">
            <a:avLst/>
          </a:prstGeom>
          <a:noFill/>
          <a:ln/>
        </p:spPr>
        <p:txBody>
          <a:bodyPr wrap="square" lIns="0" tIns="0" rIns="0" bIns="0" rtlCol="0" anchor="ctr"/>
          <a:lstStyle/>
          <a:p>
            <a:pPr indent="0" marL="0">
              <a:buNone/>
            </a:pPr>
            <a:r>
              <a:rPr lang="en-US" sz="1700" b="1" dirty="0">
                <a:solidFill>
                  <a:schemeClr val="bg1"/>
                </a:solidFill>
              </a:rPr>
              <a:t>Overclaiming is worth less than not claiming. Every limit above is also written in the documents.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309360" cy="1737360"/>
          </a:xfrm>
          <a:prstGeom prst="rect">
            <a:avLst/>
          </a:prstGeom>
          <a:noFill/>
          <a:ln/>
        </p:spPr>
        <p:txBody>
          <a:bodyPr wrap="square"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3703320"/>
            <a:ext cx="6309360" cy="1463040"/>
          </a:xfrm>
          <a:prstGeom prst="rect">
            <a:avLst/>
          </a:prstGeom>
          <a:noFill/>
          <a:ln/>
        </p:spPr>
        <p:txBody>
          <a:bodyPr wrap="square" rtlCol="0" anchor="t"/>
          <a:lstStyle/>
          <a:p>
            <a:pPr algn="l" indent="0" marL="0">
              <a:buNone/>
            </a:pPr>
            <a:r>
              <a:rPr lang="en-US" sz="1800" dirty="0">
                <a:solidFill>
                  <a:schemeClr val="bg2"/>
                </a:solidFill>
              </a:rPr>
              <a:t>Documents, diagrams, slides and film: the ve-ap-capstone repository on GitHub</a:t>
            </a:r>
            <a:endParaRPr lang="en-US" sz="1800" dirty="0"/>
          </a:p>
          <a:p>
            <a:pPr algn="l" indent="0" marL="0">
              <a:buNone/>
            </a:pPr>
            <a:r>
              <a:rPr lang="en-US" sz="1000" dirty="0">
                <a:solidFill>
                  <a:schemeClr val="bg2"/>
                </a:solidFill>
              </a:rPr>
              <a:t> </a:t>
            </a:r>
            <a:endParaRPr lang="en-US" sz="1800" dirty="0"/>
          </a:p>
          <a:p>
            <a:pPr algn="l" indent="0" marL="0">
              <a:buNone/>
            </a:pPr>
            <a:r>
              <a:rPr lang="en-US" sz="1400" dirty="0">
                <a:solidFill>
                  <a:schemeClr val="bg2"/>
                </a:solidFill>
              </a:rPr>
              <a:t>CC BY-NC-ND 4.0 · source code private</a:t>
            </a:r>
            <a:endParaRPr lang="en-US" sz="1800" dirty="0"/>
          </a:p>
        </p:txBody>
      </p:sp>
      <p:pic>
        <p:nvPicPr>
          <p:cNvPr id="4" name="attention screen" descr="attention screen">    </p:cNvPr>
          <p:cNvPicPr>
            <a:picLocks noChangeAspect="1"/>
          </p:cNvPicPr>
          <p:nvPr/>
        </p:nvPicPr>
        <p:blipFill>
          <a:blip r:embed="rId1"/>
          <a:stretch>
            <a:fillRect/>
          </a:stretch>
        </p:blipFill>
        <p:spPr>
          <a:xfrm>
            <a:off x="7223760" y="1778508"/>
            <a:ext cx="4434840" cy="2660904"/>
          </a:xfrm>
          <a:prstGeom prst="rect">
            <a:avLst/>
          </a:prstGeom>
        </p:spPr>
      </p:pic>
    </p:spTree>
  </p:cSld>
  <p:clrMapOvr>
    <a:masterClrMapping/>
  </p:clrMapOvr>
</p:sld>
</file>

<file path=ppt/theme/theme1.xml><?xml version="1.0" encoding="utf-8"?>
<a:theme xmlns:a="http://schemas.openxmlformats.org/drawingml/2006/main" name="Ve-AP">
  <a:themeElements>
    <a:clrScheme name="Ve-AP">
      <a:dk1>
        <a:srgbClr val="1B2433"/>
      </a:dk1>
      <a:lt1>
        <a:srgbClr val="FFFFFF"/>
      </a:lt1>
      <a:dk2>
        <a:srgbClr val="0E1A2B"/>
      </a:dk2>
      <a:lt2>
        <a:srgbClr val="EEF2F7"/>
      </a:lt2>
      <a:accent1>
        <a:srgbClr val="F2A900"/>
      </a:accent1>
      <a:accent2>
        <a:srgbClr val="12827A"/>
      </a:accent2>
      <a:accent3>
        <a:srgbClr val="C0392B"/>
      </a:accent3>
      <a:accent4>
        <a:srgbClr val="3B6EA5"/>
      </a:accent4>
      <a:accent5>
        <a:srgbClr val="5B6B7F"/>
      </a:accent5>
      <a:accent6>
        <a:srgbClr val="16263D"/>
      </a:accent6>
      <a:hlink>
        <a:srgbClr val="3B6EA5"/>
      </a:hlink>
      <a:folHlink>
        <a:srgbClr val="5B6B7F"/>
      </a:folHlink>
    </a:clrScheme>
    <a:fontScheme name="Ve-A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Ve-AP: a governed AI agent in a real car</dc:title>
  <dc:subject>PptxGenJS Presentation</dc:subject>
  <dc:creator>Yuvaraja</dc:creator>
  <cp:lastModifiedBy>Yuvaraja</cp:lastModifiedBy>
  <cp:revision>1</cp:revision>
  <dcterms:created xsi:type="dcterms:W3CDTF">2026-10-24T08:45:28Z</dcterms:created>
  <dcterms:modified xsi:type="dcterms:W3CDTF">2026-10-24T08:45:28Z</dcterms:modified>
</cp:coreProperties>
</file>